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nva Sans Bold" charset="1" panose="020B0803030501040103"/>
      <p:regular r:id="rId15"/>
    </p:embeddedFont>
    <p:embeddedFont>
      <p:font typeface="Calibri (MS) Bold" charset="1" panose="020F0702030404030204"/>
      <p:regular r:id="rId16"/>
    </p:embeddedFont>
    <p:embeddedFont>
      <p:font typeface="Open Sans Bold" charset="1" panose="00000000000000000000"/>
      <p:regular r:id="rId17"/>
    </p:embeddedFont>
    <p:embeddedFont>
      <p:font typeface="Canva Sans" charset="1" panose="020B0503030501040103"/>
      <p:regular r:id="rId18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8225" y="279483"/>
            <a:ext cx="16321002" cy="1830248"/>
            <a:chOff x="0" y="0"/>
            <a:chExt cx="21761336" cy="2440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780" r="0" b="-1678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93779" y="2986030"/>
            <a:ext cx="8880397" cy="96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6"/>
              </a:lnSpc>
            </a:pPr>
            <a:r>
              <a:rPr lang="en-US" sz="7400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TN-IMPACT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90734" y="4262976"/>
            <a:ext cx="10615984" cy="69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1"/>
              </a:lnSpc>
            </a:pPr>
            <a:r>
              <a:rPr lang="en-US" sz="3900" b="true">
                <a:solidFill>
                  <a:srgbClr val="BC9C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IDENTIFYING INDUSTRIAL CHALLENGES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7436" y="5626149"/>
            <a:ext cx="17113083" cy="259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8"/>
              </a:lnSpc>
            </a:pPr>
            <a:r>
              <a:rPr lang="en-US" sz="33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 NUMBER :   TNI26154     </a:t>
            </a:r>
          </a:p>
          <a:p>
            <a:pPr algn="l">
              <a:lnSpc>
                <a:spcPts val="5049"/>
              </a:lnSpc>
            </a:pPr>
          </a:p>
          <a:p>
            <a:pPr algn="l">
              <a:lnSpc>
                <a:spcPts val="5048"/>
              </a:lnSpc>
            </a:pPr>
            <a:r>
              <a:rPr lang="en-US" sz="33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 TITLE :  SafeSight AI: Automated Safety Compliance</a:t>
            </a:r>
          </a:p>
          <a:p>
            <a:pPr algn="l">
              <a:lnSpc>
                <a:spcPts val="506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7" r="0" b="-77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57263" y="4779185"/>
          <a:ext cx="15278100" cy="4318000"/>
        </p:xfrm>
        <a:graphic>
          <a:graphicData uri="http://schemas.openxmlformats.org/drawingml/2006/table">
            <a:tbl>
              <a:tblPr/>
              <a:tblGrid>
                <a:gridCol w="1644557"/>
                <a:gridCol w="6581588"/>
                <a:gridCol w="2503884"/>
                <a:gridCol w="4548071"/>
              </a:tblGrid>
              <a:tr h="12534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8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S.NO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8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STUDENT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8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SEMESTER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8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DEPARTMENT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5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GAUTHAM KRISHNA 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5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HIRUTHIK SUDHAKAR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5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KISHORE 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7547221" y="2132882"/>
            <a:ext cx="4110484" cy="6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7"/>
              </a:lnSpc>
            </a:pPr>
            <a:r>
              <a:rPr lang="en-US" sz="5198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details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7263" y="2738266"/>
            <a:ext cx="15802804" cy="195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sz="3400">
                <a:solidFill>
                  <a:srgbClr val="BC9C22"/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 :                    </a:t>
            </a:r>
            <a:r>
              <a:rPr lang="en-US" sz="3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ZERO VECTOR</a:t>
            </a:r>
          </a:p>
          <a:p>
            <a:pPr algn="l">
              <a:lnSpc>
                <a:spcPts val="5049"/>
              </a:lnSpc>
            </a:pPr>
            <a:r>
              <a:rPr lang="en-US" sz="3400">
                <a:solidFill>
                  <a:srgbClr val="BC9C22"/>
                </a:solidFill>
                <a:latin typeface="Calibri (MS)"/>
                <a:ea typeface="Calibri (MS)"/>
                <a:cs typeface="Calibri (MS)"/>
                <a:sym typeface="Calibri (MS)"/>
              </a:rPr>
              <a:t>College Mentor Name :</a:t>
            </a:r>
            <a:r>
              <a:rPr lang="en-US" sz="3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</a:t>
            </a:r>
            <a:r>
              <a:rPr lang="en-US" sz="3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DR. R .N. KARTHIKA</a:t>
            </a:r>
          </a:p>
          <a:p>
            <a:pPr algn="l">
              <a:lnSpc>
                <a:spcPts val="5049"/>
              </a:lnSpc>
            </a:pPr>
            <a:r>
              <a:rPr lang="en-US" sz="3400">
                <a:solidFill>
                  <a:srgbClr val="BC9C22"/>
                </a:solidFill>
                <a:latin typeface="Calibri (MS)"/>
                <a:ea typeface="Calibri (MS)"/>
                <a:cs typeface="Calibri (MS)"/>
                <a:sym typeface="Calibri (MS)"/>
              </a:rPr>
              <a:t>College Name:                  </a:t>
            </a:r>
            <a:r>
              <a:rPr lang="en-US" sz="3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SAVEETHA ENGINEERING COLLEGE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7" r="0" b="-77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80" r="0" b="-1678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0032" y="2749483"/>
            <a:ext cx="15617990" cy="6508817"/>
            <a:chOff x="0" y="0"/>
            <a:chExt cx="2381086" cy="992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1086" cy="992320"/>
            </a:xfrm>
            <a:custGeom>
              <a:avLst/>
              <a:gdLst/>
              <a:ahLst/>
              <a:cxnLst/>
              <a:rect r="r" b="b" t="t" l="l"/>
              <a:pathLst>
                <a:path h="992320" w="2381086">
                  <a:moveTo>
                    <a:pt x="12393" y="0"/>
                  </a:moveTo>
                  <a:lnTo>
                    <a:pt x="2368693" y="0"/>
                  </a:lnTo>
                  <a:cubicBezTo>
                    <a:pt x="2371980" y="0"/>
                    <a:pt x="2375132" y="1306"/>
                    <a:pt x="2377456" y="3630"/>
                  </a:cubicBezTo>
                  <a:cubicBezTo>
                    <a:pt x="2379780" y="5954"/>
                    <a:pt x="2381086" y="9106"/>
                    <a:pt x="2381086" y="12393"/>
                  </a:cubicBezTo>
                  <a:lnTo>
                    <a:pt x="2381086" y="979928"/>
                  </a:lnTo>
                  <a:cubicBezTo>
                    <a:pt x="2381086" y="986772"/>
                    <a:pt x="2375537" y="992320"/>
                    <a:pt x="2368693" y="992320"/>
                  </a:cubicBezTo>
                  <a:lnTo>
                    <a:pt x="12393" y="992320"/>
                  </a:lnTo>
                  <a:cubicBezTo>
                    <a:pt x="5548" y="992320"/>
                    <a:pt x="0" y="986772"/>
                    <a:pt x="0" y="979928"/>
                  </a:cubicBezTo>
                  <a:lnTo>
                    <a:pt x="0" y="12393"/>
                  </a:lnTo>
                  <a:cubicBezTo>
                    <a:pt x="0" y="5548"/>
                    <a:pt x="5548" y="0"/>
                    <a:pt x="1239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15E9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81086" cy="1030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6630" y="2109730"/>
            <a:ext cx="4517626" cy="832388"/>
            <a:chOff x="0" y="0"/>
            <a:chExt cx="1189827" cy="2192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9827" cy="219230"/>
            </a:xfrm>
            <a:custGeom>
              <a:avLst/>
              <a:gdLst/>
              <a:ahLst/>
              <a:cxnLst/>
              <a:rect r="r" b="b" t="t" l="l"/>
              <a:pathLst>
                <a:path h="219230" w="1189827">
                  <a:moveTo>
                    <a:pt x="0" y="0"/>
                  </a:moveTo>
                  <a:lnTo>
                    <a:pt x="1189827" y="0"/>
                  </a:lnTo>
                  <a:lnTo>
                    <a:pt x="1189827" y="219230"/>
                  </a:lnTo>
                  <a:lnTo>
                    <a:pt x="0" y="219230"/>
                  </a:lnTo>
                  <a:close/>
                </a:path>
              </a:pathLst>
            </a:custGeom>
            <a:solidFill>
              <a:srgbClr val="E9F2F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89827" cy="257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99994" y="5240164"/>
            <a:ext cx="15018068" cy="238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56"/>
              </a:lnSpc>
              <a:spcBef>
                <a:spcPct val="0"/>
              </a:spcBef>
            </a:pPr>
            <a:r>
              <a:rPr lang="en-US" sz="414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Build a computer vision model that uses site CCTV feeds to detect workers not wearing helmets or harnesses in real-time and automatically logs the safety violation.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1125" y="2338762"/>
            <a:ext cx="5370546" cy="641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3600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7" r="0" b="-77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80" r="0" b="-1678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997899" y="3897509"/>
            <a:ext cx="662225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for Safety Gear Detection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5816" y="3055403"/>
            <a:ext cx="12978114" cy="6672527"/>
            <a:chOff x="0" y="0"/>
            <a:chExt cx="3418104" cy="1757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18104" cy="1757373"/>
            </a:xfrm>
            <a:custGeom>
              <a:avLst/>
              <a:gdLst/>
              <a:ahLst/>
              <a:cxnLst/>
              <a:rect r="r" b="b" t="t" l="l"/>
              <a:pathLst>
                <a:path h="1757373" w="3418104">
                  <a:moveTo>
                    <a:pt x="14913" y="0"/>
                  </a:moveTo>
                  <a:lnTo>
                    <a:pt x="3403191" y="0"/>
                  </a:lnTo>
                  <a:cubicBezTo>
                    <a:pt x="3407146" y="0"/>
                    <a:pt x="3410939" y="1571"/>
                    <a:pt x="3413736" y="4368"/>
                  </a:cubicBezTo>
                  <a:cubicBezTo>
                    <a:pt x="3416533" y="7165"/>
                    <a:pt x="3418104" y="10958"/>
                    <a:pt x="3418104" y="14913"/>
                  </a:cubicBezTo>
                  <a:lnTo>
                    <a:pt x="3418104" y="1742460"/>
                  </a:lnTo>
                  <a:cubicBezTo>
                    <a:pt x="3418104" y="1746415"/>
                    <a:pt x="3416533" y="1750208"/>
                    <a:pt x="3413736" y="1753005"/>
                  </a:cubicBezTo>
                  <a:cubicBezTo>
                    <a:pt x="3410939" y="1755802"/>
                    <a:pt x="3407146" y="1757373"/>
                    <a:pt x="3403191" y="1757373"/>
                  </a:cubicBezTo>
                  <a:lnTo>
                    <a:pt x="14913" y="1757373"/>
                  </a:lnTo>
                  <a:cubicBezTo>
                    <a:pt x="10958" y="1757373"/>
                    <a:pt x="7165" y="1755802"/>
                    <a:pt x="4368" y="1753005"/>
                  </a:cubicBezTo>
                  <a:cubicBezTo>
                    <a:pt x="1571" y="1750208"/>
                    <a:pt x="0" y="1746415"/>
                    <a:pt x="0" y="1742460"/>
                  </a:cubicBezTo>
                  <a:lnTo>
                    <a:pt x="0" y="14913"/>
                  </a:lnTo>
                  <a:cubicBezTo>
                    <a:pt x="0" y="10958"/>
                    <a:pt x="1571" y="7165"/>
                    <a:pt x="4368" y="4368"/>
                  </a:cubicBezTo>
                  <a:cubicBezTo>
                    <a:pt x="7165" y="1571"/>
                    <a:pt x="10958" y="0"/>
                    <a:pt x="149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15E9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18104" cy="1795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5184" y="8781474"/>
            <a:ext cx="12215515" cy="631422"/>
            <a:chOff x="0" y="0"/>
            <a:chExt cx="3217255" cy="166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17255" cy="166300"/>
            </a:xfrm>
            <a:custGeom>
              <a:avLst/>
              <a:gdLst/>
              <a:ahLst/>
              <a:cxnLst/>
              <a:rect r="r" b="b" t="t" l="l"/>
              <a:pathLst>
                <a:path h="166300" w="3217255">
                  <a:moveTo>
                    <a:pt x="32323" y="0"/>
                  </a:moveTo>
                  <a:lnTo>
                    <a:pt x="3184932" y="0"/>
                  </a:lnTo>
                  <a:cubicBezTo>
                    <a:pt x="3193505" y="0"/>
                    <a:pt x="3201726" y="3405"/>
                    <a:pt x="3207788" y="9467"/>
                  </a:cubicBezTo>
                  <a:cubicBezTo>
                    <a:pt x="3213850" y="15529"/>
                    <a:pt x="3217255" y="23750"/>
                    <a:pt x="3217255" y="32323"/>
                  </a:cubicBezTo>
                  <a:lnTo>
                    <a:pt x="3217255" y="133978"/>
                  </a:lnTo>
                  <a:cubicBezTo>
                    <a:pt x="3217255" y="142550"/>
                    <a:pt x="3213850" y="150772"/>
                    <a:pt x="3207788" y="156833"/>
                  </a:cubicBezTo>
                  <a:cubicBezTo>
                    <a:pt x="3201726" y="162895"/>
                    <a:pt x="3193505" y="166300"/>
                    <a:pt x="3184932" y="166300"/>
                  </a:cubicBezTo>
                  <a:lnTo>
                    <a:pt x="32323" y="166300"/>
                  </a:lnTo>
                  <a:cubicBezTo>
                    <a:pt x="23750" y="166300"/>
                    <a:pt x="15529" y="162895"/>
                    <a:pt x="9467" y="156833"/>
                  </a:cubicBezTo>
                  <a:cubicBezTo>
                    <a:pt x="3405" y="150772"/>
                    <a:pt x="0" y="142550"/>
                    <a:pt x="0" y="133978"/>
                  </a:cubicBezTo>
                  <a:lnTo>
                    <a:pt x="0" y="32323"/>
                  </a:lnTo>
                  <a:cubicBezTo>
                    <a:pt x="0" y="23750"/>
                    <a:pt x="3405" y="15529"/>
                    <a:pt x="9467" y="9467"/>
                  </a:cubicBezTo>
                  <a:cubicBezTo>
                    <a:pt x="15529" y="3405"/>
                    <a:pt x="23750" y="0"/>
                    <a:pt x="323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17255" cy="204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22192" y="2782036"/>
            <a:ext cx="4929219" cy="546735"/>
            <a:chOff x="0" y="0"/>
            <a:chExt cx="1298230" cy="1439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8230" cy="143996"/>
            </a:xfrm>
            <a:custGeom>
              <a:avLst/>
              <a:gdLst/>
              <a:ahLst/>
              <a:cxnLst/>
              <a:rect r="r" b="b" t="t" l="l"/>
              <a:pathLst>
                <a:path h="143996" w="1298230">
                  <a:moveTo>
                    <a:pt x="0" y="0"/>
                  </a:moveTo>
                  <a:lnTo>
                    <a:pt x="1298230" y="0"/>
                  </a:lnTo>
                  <a:lnTo>
                    <a:pt x="1298230" y="143996"/>
                  </a:lnTo>
                  <a:lnTo>
                    <a:pt x="0" y="143996"/>
                  </a:lnTo>
                  <a:close/>
                </a:path>
              </a:pathLst>
            </a:custGeom>
            <a:solidFill>
              <a:srgbClr val="E9F2F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8230" cy="182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84355" y="2629636"/>
            <a:ext cx="575331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3600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description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5184" y="3427900"/>
            <a:ext cx="13156507" cy="102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The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SAFET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 CRISIS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Manual monitoring of construction sites is inconsistent, Error-Prone , labor intensive ,Reactive(post-incident)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5184" y="4882649"/>
            <a:ext cx="12214384" cy="364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Manual Safety M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onitoring Inefficiencies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Supervisors manually inspect workers across large construction areas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Inconsistent monitoring due to human oversight and fatigue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Safety violations go undetected until incidents occur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Periodic inspections create continuous monitoring gaps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Reactive approach (post-incident) rather than proactive prevention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822579" y="8809720"/>
            <a:ext cx="11334273" cy="49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RESULT: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Preventable accidents due to undetected PPE violations 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7" r="0" b="-77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80" r="0" b="-1678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3131" y="3497098"/>
            <a:ext cx="8178138" cy="3832338"/>
            <a:chOff x="0" y="0"/>
            <a:chExt cx="618937" cy="290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937" cy="290039"/>
            </a:xfrm>
            <a:custGeom>
              <a:avLst/>
              <a:gdLst/>
              <a:ahLst/>
              <a:cxnLst/>
              <a:rect r="r" b="b" t="t" l="l"/>
              <a:pathLst>
                <a:path h="290039" w="618937">
                  <a:moveTo>
                    <a:pt x="18489" y="0"/>
                  </a:moveTo>
                  <a:lnTo>
                    <a:pt x="600447" y="0"/>
                  </a:lnTo>
                  <a:cubicBezTo>
                    <a:pt x="610659" y="0"/>
                    <a:pt x="618937" y="8278"/>
                    <a:pt x="618937" y="18489"/>
                  </a:cubicBezTo>
                  <a:lnTo>
                    <a:pt x="618937" y="271549"/>
                  </a:lnTo>
                  <a:cubicBezTo>
                    <a:pt x="618937" y="281761"/>
                    <a:pt x="610659" y="290039"/>
                    <a:pt x="600447" y="290039"/>
                  </a:cubicBezTo>
                  <a:lnTo>
                    <a:pt x="18489" y="290039"/>
                  </a:lnTo>
                  <a:cubicBezTo>
                    <a:pt x="8278" y="290039"/>
                    <a:pt x="0" y="281761"/>
                    <a:pt x="0" y="271549"/>
                  </a:cubicBezTo>
                  <a:lnTo>
                    <a:pt x="0" y="18489"/>
                  </a:lnTo>
                  <a:cubicBezTo>
                    <a:pt x="0" y="8278"/>
                    <a:pt x="8278" y="0"/>
                    <a:pt x="18489" y="0"/>
                  </a:cubicBezTo>
                  <a:close/>
                </a:path>
              </a:pathLst>
            </a:custGeom>
            <a:solidFill>
              <a:srgbClr val="E9F2F7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8937" cy="32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21876" y="7803880"/>
            <a:ext cx="12175649" cy="56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ROOT CAUSE: Lack of automated, continuous, real-time safety gear detection system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0" y="3497098"/>
            <a:ext cx="8205702" cy="3832338"/>
            <a:chOff x="0" y="0"/>
            <a:chExt cx="621023" cy="2900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1023" cy="290039"/>
            </a:xfrm>
            <a:custGeom>
              <a:avLst/>
              <a:gdLst/>
              <a:ahLst/>
              <a:cxnLst/>
              <a:rect r="r" b="b" t="t" l="l"/>
              <a:pathLst>
                <a:path h="290039" w="621023">
                  <a:moveTo>
                    <a:pt x="22113" y="0"/>
                  </a:moveTo>
                  <a:lnTo>
                    <a:pt x="598910" y="0"/>
                  </a:lnTo>
                  <a:cubicBezTo>
                    <a:pt x="611123" y="0"/>
                    <a:pt x="621023" y="9900"/>
                    <a:pt x="621023" y="22113"/>
                  </a:cubicBezTo>
                  <a:lnTo>
                    <a:pt x="621023" y="267926"/>
                  </a:lnTo>
                  <a:cubicBezTo>
                    <a:pt x="621023" y="280138"/>
                    <a:pt x="611123" y="290039"/>
                    <a:pt x="598910" y="290039"/>
                  </a:cubicBezTo>
                  <a:lnTo>
                    <a:pt x="22113" y="290039"/>
                  </a:lnTo>
                  <a:cubicBezTo>
                    <a:pt x="9900" y="290039"/>
                    <a:pt x="0" y="280138"/>
                    <a:pt x="0" y="267926"/>
                  </a:cubicBezTo>
                  <a:lnTo>
                    <a:pt x="0" y="22113"/>
                  </a:lnTo>
                  <a:cubicBezTo>
                    <a:pt x="0" y="9900"/>
                    <a:pt x="9900" y="0"/>
                    <a:pt x="22113" y="0"/>
                  </a:cubicBezTo>
                  <a:close/>
                </a:path>
              </a:pathLst>
            </a:custGeom>
            <a:solidFill>
              <a:srgbClr val="E9F2F7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21023" cy="32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03829" y="7480268"/>
            <a:ext cx="15437006" cy="1355503"/>
            <a:chOff x="0" y="0"/>
            <a:chExt cx="4065651" cy="3572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5651" cy="357251"/>
            </a:xfrm>
            <a:custGeom>
              <a:avLst/>
              <a:gdLst/>
              <a:ahLst/>
              <a:cxnLst/>
              <a:rect r="r" b="b" t="t" l="l"/>
              <a:pathLst>
                <a:path h="357251" w="4065651">
                  <a:moveTo>
                    <a:pt x="4065651" y="12538"/>
                  </a:moveTo>
                  <a:lnTo>
                    <a:pt x="4065651" y="344713"/>
                  </a:lnTo>
                  <a:cubicBezTo>
                    <a:pt x="4065651" y="348038"/>
                    <a:pt x="4064330" y="351227"/>
                    <a:pt x="4061979" y="353579"/>
                  </a:cubicBezTo>
                  <a:cubicBezTo>
                    <a:pt x="4059627" y="355930"/>
                    <a:pt x="4056438" y="357251"/>
                    <a:pt x="4053113" y="357251"/>
                  </a:cubicBezTo>
                  <a:lnTo>
                    <a:pt x="12538" y="357251"/>
                  </a:lnTo>
                  <a:cubicBezTo>
                    <a:pt x="9213" y="357251"/>
                    <a:pt x="6024" y="355930"/>
                    <a:pt x="3672" y="353579"/>
                  </a:cubicBezTo>
                  <a:cubicBezTo>
                    <a:pt x="1321" y="351227"/>
                    <a:pt x="0" y="348038"/>
                    <a:pt x="0" y="344713"/>
                  </a:cubicBezTo>
                  <a:lnTo>
                    <a:pt x="0" y="12538"/>
                  </a:lnTo>
                  <a:cubicBezTo>
                    <a:pt x="0" y="9213"/>
                    <a:pt x="1321" y="6024"/>
                    <a:pt x="3672" y="3672"/>
                  </a:cubicBezTo>
                  <a:cubicBezTo>
                    <a:pt x="6024" y="1321"/>
                    <a:pt x="9213" y="0"/>
                    <a:pt x="12538" y="0"/>
                  </a:cubicBezTo>
                  <a:lnTo>
                    <a:pt x="4053113" y="0"/>
                  </a:lnTo>
                  <a:cubicBezTo>
                    <a:pt x="4056438" y="0"/>
                    <a:pt x="4059627" y="1321"/>
                    <a:pt x="4061979" y="3672"/>
                  </a:cubicBezTo>
                  <a:cubicBezTo>
                    <a:pt x="4064330" y="6024"/>
                    <a:pt x="4065651" y="9213"/>
                    <a:pt x="4065651" y="1253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065651" cy="395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21876" y="3609476"/>
            <a:ext cx="6526371" cy="318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urrent State: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❌ Error-prone manual compliance checking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❌ No real-time violation detection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❌ Delayed response to safety breaches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❌ Existing CCTV infrastructure underutilized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238543" y="3609476"/>
            <a:ext cx="8291699" cy="318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Impact: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⚠️ Preventable w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orkplace accidents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⚠️ High injury rates despite PPE requirements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⚠️ Regulatory non-compliance risk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⚠️ Lost productivity and liability costs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7" r="0" b="-77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80" r="0" b="-1678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129" y="2408683"/>
            <a:ext cx="17973410" cy="7878317"/>
            <a:chOff x="0" y="0"/>
            <a:chExt cx="4733738" cy="20749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33737" cy="2074948"/>
            </a:xfrm>
            <a:custGeom>
              <a:avLst/>
              <a:gdLst/>
              <a:ahLst/>
              <a:cxnLst/>
              <a:rect r="r" b="b" t="t" l="l"/>
              <a:pathLst>
                <a:path h="2074948" w="4733737">
                  <a:moveTo>
                    <a:pt x="21968" y="0"/>
                  </a:moveTo>
                  <a:lnTo>
                    <a:pt x="4711769" y="0"/>
                  </a:lnTo>
                  <a:cubicBezTo>
                    <a:pt x="4717596" y="0"/>
                    <a:pt x="4723183" y="2314"/>
                    <a:pt x="4727303" y="6434"/>
                  </a:cubicBezTo>
                  <a:cubicBezTo>
                    <a:pt x="4731423" y="10554"/>
                    <a:pt x="4733737" y="16142"/>
                    <a:pt x="4733737" y="21968"/>
                  </a:cubicBezTo>
                  <a:lnTo>
                    <a:pt x="4733737" y="2052980"/>
                  </a:lnTo>
                  <a:cubicBezTo>
                    <a:pt x="4733737" y="2058806"/>
                    <a:pt x="4731423" y="2064394"/>
                    <a:pt x="4727303" y="2068513"/>
                  </a:cubicBezTo>
                  <a:cubicBezTo>
                    <a:pt x="4723183" y="2072633"/>
                    <a:pt x="4717596" y="2074948"/>
                    <a:pt x="4711769" y="2074948"/>
                  </a:cubicBezTo>
                  <a:lnTo>
                    <a:pt x="21968" y="2074948"/>
                  </a:lnTo>
                  <a:cubicBezTo>
                    <a:pt x="16142" y="2074948"/>
                    <a:pt x="10554" y="2072633"/>
                    <a:pt x="6434" y="2068513"/>
                  </a:cubicBezTo>
                  <a:cubicBezTo>
                    <a:pt x="2314" y="2064394"/>
                    <a:pt x="0" y="2058806"/>
                    <a:pt x="0" y="2052980"/>
                  </a:cubicBezTo>
                  <a:lnTo>
                    <a:pt x="0" y="21968"/>
                  </a:lnTo>
                  <a:cubicBezTo>
                    <a:pt x="0" y="16142"/>
                    <a:pt x="2314" y="10554"/>
                    <a:pt x="6434" y="6434"/>
                  </a:cubicBezTo>
                  <a:cubicBezTo>
                    <a:pt x="10554" y="2314"/>
                    <a:pt x="16142" y="0"/>
                    <a:pt x="219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33738" cy="2113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273240" y="2760535"/>
            <a:ext cx="8458344" cy="468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S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YSTEM INTEGRATION 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Integrate with existing CCTV infrastructure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Generate immediate site alerts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Support multi-camera deployment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SCALABILITY &amp; ROBUSTNESS 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Support 4+ concurrent camera feeds 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Operate continuously during site hours (&gt;99.5%)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Handle variable lighting, angle, worker densities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5846" y="2760535"/>
            <a:ext cx="8807394" cy="7309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DETECTION ACCURAC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Achieve ≥95% recall for missing helmet detection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Achieve ≥95% recall for missing harness detection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Maintain ≥92% precision to reduce alert fatigue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REAL-TIME PERFORMANCE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Process video at ≥20 FPS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Latency ≤150ms end-to-end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Alert delivery ≤100ms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AUTOMATED VIOLATION LOGGING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Automatically capture violation metadata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Log violations with detection confidence scores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Maintain audit trail for compliance review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49365" y="2126361"/>
            <a:ext cx="3098867" cy="564645"/>
            <a:chOff x="0" y="0"/>
            <a:chExt cx="816163" cy="1487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6163" cy="148713"/>
            </a:xfrm>
            <a:custGeom>
              <a:avLst/>
              <a:gdLst/>
              <a:ahLst/>
              <a:cxnLst/>
              <a:rect r="r" b="b" t="t" l="l"/>
              <a:pathLst>
                <a:path h="148713" w="816163">
                  <a:moveTo>
                    <a:pt x="0" y="0"/>
                  </a:moveTo>
                  <a:lnTo>
                    <a:pt x="816163" y="0"/>
                  </a:lnTo>
                  <a:lnTo>
                    <a:pt x="816163" y="148713"/>
                  </a:lnTo>
                  <a:lnTo>
                    <a:pt x="0" y="148713"/>
                  </a:lnTo>
                  <a:close/>
                </a:path>
              </a:pathLst>
            </a:custGeom>
            <a:solidFill>
              <a:srgbClr val="E9F2F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6163" cy="18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701017" y="2063401"/>
            <a:ext cx="2947216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000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7" r="0" b="-77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80" r="0" b="-1678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2591" y="2455251"/>
            <a:ext cx="3642602" cy="6323937"/>
          </a:xfrm>
          <a:custGeom>
            <a:avLst/>
            <a:gdLst/>
            <a:ahLst/>
            <a:cxnLst/>
            <a:rect r="r" b="b" t="t" l="l"/>
            <a:pathLst>
              <a:path h="6323937" w="3642602">
                <a:moveTo>
                  <a:pt x="0" y="0"/>
                </a:moveTo>
                <a:lnTo>
                  <a:pt x="3642602" y="0"/>
                </a:lnTo>
                <a:lnTo>
                  <a:pt x="3642602" y="6323937"/>
                </a:lnTo>
                <a:lnTo>
                  <a:pt x="0" y="632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567" b="-15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50232" y="2455251"/>
            <a:ext cx="3348826" cy="6323937"/>
          </a:xfrm>
          <a:custGeom>
            <a:avLst/>
            <a:gdLst/>
            <a:ahLst/>
            <a:cxnLst/>
            <a:rect r="r" b="b" t="t" l="l"/>
            <a:pathLst>
              <a:path h="6323937" w="3348826">
                <a:moveTo>
                  <a:pt x="0" y="0"/>
                </a:moveTo>
                <a:lnTo>
                  <a:pt x="3348826" y="0"/>
                </a:lnTo>
                <a:lnTo>
                  <a:pt x="3348826" y="6323937"/>
                </a:lnTo>
                <a:lnTo>
                  <a:pt x="0" y="6323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875" t="-5567" r="-12133" b="-379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19601" y="2455251"/>
            <a:ext cx="4982110" cy="6323937"/>
          </a:xfrm>
          <a:custGeom>
            <a:avLst/>
            <a:gdLst/>
            <a:ahLst/>
            <a:cxnLst/>
            <a:rect r="r" b="b" t="t" l="l"/>
            <a:pathLst>
              <a:path h="6323937" w="4982110">
                <a:moveTo>
                  <a:pt x="0" y="0"/>
                </a:moveTo>
                <a:lnTo>
                  <a:pt x="4982110" y="0"/>
                </a:lnTo>
                <a:lnTo>
                  <a:pt x="4982110" y="6323937"/>
                </a:lnTo>
                <a:lnTo>
                  <a:pt x="0" y="63239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31" t="-4076" r="-4031" b="-433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8874438"/>
            <a:ext cx="16465706" cy="1693026"/>
            <a:chOff x="0" y="0"/>
            <a:chExt cx="21954275" cy="225736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54666"/>
              <a:ext cx="8631775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215E9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Architecture Diagram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5055865" y="313284"/>
              <a:ext cx="6650503" cy="1870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2"/>
                </a:lnSpc>
              </a:pPr>
              <a:r>
                <a:rPr lang="en-US" sz="2701" b="true">
                  <a:solidFill>
                    <a:srgbClr val="215E9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YOLO Based Object Detection Flow</a:t>
              </a:r>
            </a:p>
            <a:p>
              <a:pPr algn="ctr">
                <a:lnSpc>
                  <a:spcPts val="3782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733516" y="220796"/>
              <a:ext cx="7494717" cy="2036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7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215E9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  <a:r>
                <a:rPr lang="en-US" b="true" sz="2799">
                  <a:solidFill>
                    <a:srgbClr val="215E9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etection and Safety Gear Association Logic</a:t>
              </a:r>
            </a:p>
            <a:p>
              <a:pPr algn="ctr">
                <a:lnSpc>
                  <a:spcPts val="4157"/>
                </a:lnSpc>
                <a:spcBef>
                  <a:spcPct val="0"/>
                </a:spcBef>
              </a:pP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1371600" y="0"/>
              <a:ext cx="20582675" cy="1807376"/>
              <a:chOff x="0" y="0"/>
              <a:chExt cx="4065714" cy="35701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5713" cy="357013"/>
              </a:xfrm>
              <a:custGeom>
                <a:avLst/>
                <a:gdLst/>
                <a:ahLst/>
                <a:cxnLst/>
                <a:rect r="r" b="b" t="t" l="l"/>
                <a:pathLst>
                  <a:path h="357013" w="4065713">
                    <a:moveTo>
                      <a:pt x="25577" y="0"/>
                    </a:moveTo>
                    <a:lnTo>
                      <a:pt x="4040136" y="0"/>
                    </a:lnTo>
                    <a:cubicBezTo>
                      <a:pt x="4054262" y="0"/>
                      <a:pt x="4065713" y="11451"/>
                      <a:pt x="4065713" y="25577"/>
                    </a:cubicBezTo>
                    <a:lnTo>
                      <a:pt x="4065713" y="331435"/>
                    </a:lnTo>
                    <a:cubicBezTo>
                      <a:pt x="4065713" y="338219"/>
                      <a:pt x="4063019" y="344724"/>
                      <a:pt x="4058222" y="349521"/>
                    </a:cubicBezTo>
                    <a:cubicBezTo>
                      <a:pt x="4053425" y="354318"/>
                      <a:pt x="4046920" y="357013"/>
                      <a:pt x="4040136" y="357013"/>
                    </a:cubicBezTo>
                    <a:lnTo>
                      <a:pt x="25577" y="357013"/>
                    </a:lnTo>
                    <a:cubicBezTo>
                      <a:pt x="11451" y="357013"/>
                      <a:pt x="0" y="345561"/>
                      <a:pt x="0" y="331435"/>
                    </a:cubicBezTo>
                    <a:lnTo>
                      <a:pt x="0" y="25577"/>
                    </a:lnTo>
                    <a:cubicBezTo>
                      <a:pt x="0" y="11451"/>
                      <a:pt x="11451" y="0"/>
                      <a:pt x="2557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065714" cy="3951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77" r="0" b="-77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6780" r="0" b="-1678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8204" y="3237910"/>
            <a:ext cx="7086451" cy="231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2"/>
              </a:lnSpc>
            </a:pPr>
            <a:r>
              <a:rPr lang="en-US" b="true" sz="2499" u="sng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DETECTION PERFORMANCE: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Achieved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95.2%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recall f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 helmet detection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Achieved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93.8%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recall for harness detection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Overall mAP@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0.5: 89.1%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across all classes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Precision: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91.7%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(minimal false alerts)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8204" y="6303127"/>
            <a:ext cx="8011864" cy="278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2"/>
              </a:lnSpc>
            </a:pPr>
            <a:r>
              <a:rPr lang="en-US" b="true" sz="2499" u="sng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ROBUSTNESS ACROSS CONDITIONS:</a:t>
            </a:r>
          </a:p>
          <a:p>
            <a:pPr algn="just">
              <a:lnSpc>
                <a:spcPts val="3712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Daytime performance: </a:t>
            </a: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94.1% recall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Low-light performance: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89.3% recall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Occluded workers (50%):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88.2% recall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Multi-worker scenarios (10+ workers):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91.5% recall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Distance variations (5-30m):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87.4% average recall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66111" y="3243001"/>
            <a:ext cx="9386618" cy="231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99" u="sng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DEPLOYMENT READINESS: 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Modular architecture supp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orts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single/multi-camera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RTSP/HTTP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stream compatibility verified 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Scalable to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enterprise safety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management systems 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Production-ready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violation logging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with audit trails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58993" y="6303127"/>
            <a:ext cx="9386618" cy="231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99" u="sng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PERFORMANCE: 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Proces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sing speed: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28 FPS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on standard GPU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End-to-end latency: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127ms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(target: ≤150ms) 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Frame inference time: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45ms 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Alert delivery: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82ms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average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88624" y="2572312"/>
            <a:ext cx="17478770" cy="7373362"/>
            <a:chOff x="0" y="0"/>
            <a:chExt cx="4603462" cy="19419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03462" cy="1941955"/>
            </a:xfrm>
            <a:custGeom>
              <a:avLst/>
              <a:gdLst/>
              <a:ahLst/>
              <a:cxnLst/>
              <a:rect r="r" b="b" t="t" l="l"/>
              <a:pathLst>
                <a:path h="1941955" w="4603462">
                  <a:moveTo>
                    <a:pt x="22590" y="0"/>
                  </a:moveTo>
                  <a:lnTo>
                    <a:pt x="4580872" y="0"/>
                  </a:lnTo>
                  <a:cubicBezTo>
                    <a:pt x="4593348" y="0"/>
                    <a:pt x="4603462" y="10114"/>
                    <a:pt x="4603462" y="22590"/>
                  </a:cubicBezTo>
                  <a:lnTo>
                    <a:pt x="4603462" y="1919366"/>
                  </a:lnTo>
                  <a:cubicBezTo>
                    <a:pt x="4603462" y="1931842"/>
                    <a:pt x="4593348" y="1941955"/>
                    <a:pt x="4580872" y="1941955"/>
                  </a:cubicBezTo>
                  <a:lnTo>
                    <a:pt x="22590" y="1941955"/>
                  </a:lnTo>
                  <a:cubicBezTo>
                    <a:pt x="10114" y="1941955"/>
                    <a:pt x="0" y="1931842"/>
                    <a:pt x="0" y="1919366"/>
                  </a:cubicBezTo>
                  <a:lnTo>
                    <a:pt x="0" y="22590"/>
                  </a:lnTo>
                  <a:cubicBezTo>
                    <a:pt x="0" y="10114"/>
                    <a:pt x="10114" y="0"/>
                    <a:pt x="225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603462" cy="1980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68344" y="2289990"/>
            <a:ext cx="3220857" cy="691778"/>
            <a:chOff x="0" y="0"/>
            <a:chExt cx="848291" cy="1821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8291" cy="182197"/>
            </a:xfrm>
            <a:custGeom>
              <a:avLst/>
              <a:gdLst/>
              <a:ahLst/>
              <a:cxnLst/>
              <a:rect r="r" b="b" t="t" l="l"/>
              <a:pathLst>
                <a:path h="182197" w="848291">
                  <a:moveTo>
                    <a:pt x="0" y="0"/>
                  </a:moveTo>
                  <a:lnTo>
                    <a:pt x="848291" y="0"/>
                  </a:lnTo>
                  <a:lnTo>
                    <a:pt x="848291" y="182197"/>
                  </a:lnTo>
                  <a:lnTo>
                    <a:pt x="0" y="182197"/>
                  </a:lnTo>
                  <a:close/>
                </a:path>
              </a:pathLst>
            </a:custGeom>
            <a:solidFill>
              <a:srgbClr val="E9F2F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48291" cy="220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359374" y="2375715"/>
            <a:ext cx="2668635" cy="60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4548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Findings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7" r="0" b="-77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80" r="0" b="-1678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8624" y="2572312"/>
            <a:ext cx="17478770" cy="7373362"/>
            <a:chOff x="0" y="0"/>
            <a:chExt cx="4603462" cy="19419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3462" cy="1941955"/>
            </a:xfrm>
            <a:custGeom>
              <a:avLst/>
              <a:gdLst/>
              <a:ahLst/>
              <a:cxnLst/>
              <a:rect r="r" b="b" t="t" l="l"/>
              <a:pathLst>
                <a:path h="1941955" w="4603462">
                  <a:moveTo>
                    <a:pt x="22590" y="0"/>
                  </a:moveTo>
                  <a:lnTo>
                    <a:pt x="4580872" y="0"/>
                  </a:lnTo>
                  <a:cubicBezTo>
                    <a:pt x="4593348" y="0"/>
                    <a:pt x="4603462" y="10114"/>
                    <a:pt x="4603462" y="22590"/>
                  </a:cubicBezTo>
                  <a:lnTo>
                    <a:pt x="4603462" y="1919366"/>
                  </a:lnTo>
                  <a:cubicBezTo>
                    <a:pt x="4603462" y="1931842"/>
                    <a:pt x="4593348" y="1941955"/>
                    <a:pt x="4580872" y="1941955"/>
                  </a:cubicBezTo>
                  <a:lnTo>
                    <a:pt x="22590" y="1941955"/>
                  </a:lnTo>
                  <a:cubicBezTo>
                    <a:pt x="10114" y="1941955"/>
                    <a:pt x="0" y="1931842"/>
                    <a:pt x="0" y="1919366"/>
                  </a:cubicBezTo>
                  <a:lnTo>
                    <a:pt x="0" y="22590"/>
                  </a:lnTo>
                  <a:cubicBezTo>
                    <a:pt x="0" y="10114"/>
                    <a:pt x="10114" y="0"/>
                    <a:pt x="225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3462" cy="1980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7" r="0" b="-7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56408" y="3779551"/>
            <a:ext cx="13680995" cy="6261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SafeSight AI successf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ully delivers an automated, real-time computer vision solution for construction site safety compliance monitoring.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ON SAFETY: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Eliminates manual monitoring gaps that cause preventable accidents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Provides continuous, objective safety verification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Enables immediate supervisory response to violations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Creates auditable compliance records for regulatory adherence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Reduces reliance on human judgment and fatigue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203487" y="2198656"/>
            <a:ext cx="4134277" cy="852333"/>
            <a:chOff x="0" y="0"/>
            <a:chExt cx="1088863" cy="2244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8863" cy="224483"/>
            </a:xfrm>
            <a:custGeom>
              <a:avLst/>
              <a:gdLst/>
              <a:ahLst/>
              <a:cxnLst/>
              <a:rect r="r" b="b" t="t" l="l"/>
              <a:pathLst>
                <a:path h="224483" w="1088863">
                  <a:moveTo>
                    <a:pt x="0" y="0"/>
                  </a:moveTo>
                  <a:lnTo>
                    <a:pt x="1088863" y="0"/>
                  </a:lnTo>
                  <a:lnTo>
                    <a:pt x="1088863" y="224483"/>
                  </a:lnTo>
                  <a:lnTo>
                    <a:pt x="0" y="224483"/>
                  </a:lnTo>
                  <a:close/>
                </a:path>
              </a:pathLst>
            </a:custGeom>
            <a:solidFill>
              <a:srgbClr val="E9F2F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88863" cy="262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26008" y="2246281"/>
            <a:ext cx="3763863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80" r="0" b="-1678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DAG_N0ZASpM</dc:identifier>
  <dcterms:modified xsi:type="dcterms:W3CDTF">2011-08-01T06:04:30Z</dcterms:modified>
  <cp:revision>1</cp:revision>
  <dc:title>TN-IMPACT_2026_PPT_TEMPLATE.pptx</dc:title>
</cp:coreProperties>
</file>