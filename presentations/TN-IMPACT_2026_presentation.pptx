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Canva Sans Bold" charset="1" panose="020B0803030501040103"/>
      <p:regular r:id="rId15"/>
    </p:embeddedFont>
    <p:embeddedFont>
      <p:font typeface="Open Sans Bold" charset="1" panose="00000000000000000000"/>
      <p:regular r:id="rId16"/>
    </p:embeddedFont>
    <p:embeddedFont>
      <p:font typeface="Canva Sans" charset="1" panose="020B0503030501040103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png" Type="http://schemas.openxmlformats.org/officeDocument/2006/relationships/image"/><Relationship Id="rId4" Target="../media/image6.png" Type="http://schemas.openxmlformats.org/officeDocument/2006/relationships/image"/><Relationship Id="rId5" Target="../media/image2.png" Type="http://schemas.openxmlformats.org/officeDocument/2006/relationships/image"/><Relationship Id="rId6" Target="../media/image3.svg" Type="http://schemas.openxmlformats.org/officeDocument/2006/relationships/image"/><Relationship Id="rId7" Target="../media/image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38225" y="279483"/>
            <a:ext cx="16321002" cy="1830248"/>
            <a:chOff x="0" y="0"/>
            <a:chExt cx="21761336" cy="244033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761323" cy="2440305"/>
            </a:xfrm>
            <a:custGeom>
              <a:avLst/>
              <a:gdLst/>
              <a:ahLst/>
              <a:cxnLst/>
              <a:rect r="r" b="b" t="t" l="l"/>
              <a:pathLst>
                <a:path h="2440305" w="21761323">
                  <a:moveTo>
                    <a:pt x="0" y="0"/>
                  </a:moveTo>
                  <a:lnTo>
                    <a:pt x="21761323" y="0"/>
                  </a:lnTo>
                  <a:lnTo>
                    <a:pt x="21761323" y="2440305"/>
                  </a:lnTo>
                  <a:lnTo>
                    <a:pt x="0" y="24403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6780" r="0" b="-16781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4893779" y="2986030"/>
            <a:ext cx="8880397" cy="9688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26"/>
              </a:lnSpc>
            </a:pPr>
            <a:r>
              <a:rPr lang="en-US" sz="7400" b="true">
                <a:solidFill>
                  <a:srgbClr val="28568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TN-IMPACT 2026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890734" y="4262976"/>
            <a:ext cx="10615984" cy="6971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91"/>
              </a:lnSpc>
            </a:pPr>
            <a:r>
              <a:rPr lang="en-US" sz="3900" b="true">
                <a:solidFill>
                  <a:srgbClr val="BC9C2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IDENTIFYING INDUSTRIAL CHALLENGES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77436" y="5692824"/>
            <a:ext cx="17113083" cy="25244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65"/>
              </a:lnSpc>
            </a:pPr>
            <a:r>
              <a:rPr lang="en-US" sz="3411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PROBLEM STATEMENT NUMBER :   TNI26154     </a:t>
            </a:r>
          </a:p>
          <a:p>
            <a:pPr algn="l">
              <a:lnSpc>
                <a:spcPts val="5066"/>
              </a:lnSpc>
            </a:pPr>
          </a:p>
          <a:p>
            <a:pPr algn="l">
              <a:lnSpc>
                <a:spcPts val="5065"/>
              </a:lnSpc>
            </a:pPr>
            <a:r>
              <a:rPr lang="en-US" sz="3411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PROBLEM STATEMENT TITLE :  SafeSight AI: Automated Safety Compliance</a:t>
            </a:r>
          </a:p>
          <a:p>
            <a:pPr algn="l">
              <a:lnSpc>
                <a:spcPts val="5066"/>
              </a:lnSpc>
            </a:pPr>
          </a:p>
        </p:txBody>
      </p:sp>
      <p:sp>
        <p:nvSpPr>
          <p:cNvPr name="Freeform 7" id="7"/>
          <p:cNvSpPr/>
          <p:nvPr/>
        </p:nvSpPr>
        <p:spPr>
          <a:xfrm flipH="true" flipV="false" rot="0">
            <a:off x="11657705" y="6644973"/>
            <a:ext cx="7663167" cy="4904422"/>
          </a:xfrm>
          <a:custGeom>
            <a:avLst/>
            <a:gdLst/>
            <a:ahLst/>
            <a:cxnLst/>
            <a:rect r="r" b="b" t="t" l="l"/>
            <a:pathLst>
              <a:path h="4904422" w="7663167">
                <a:moveTo>
                  <a:pt x="7663167" y="0"/>
                </a:moveTo>
                <a:lnTo>
                  <a:pt x="0" y="0"/>
                </a:lnTo>
                <a:lnTo>
                  <a:pt x="0" y="4904423"/>
                </a:lnTo>
                <a:lnTo>
                  <a:pt x="7663167" y="4904423"/>
                </a:lnTo>
                <a:lnTo>
                  <a:pt x="7663167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77" r="0" b="-77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Table 2" id="2"/>
          <p:cNvGraphicFramePr>
            <a:graphicFrameLocks noGrp="true"/>
          </p:cNvGraphicFramePr>
          <p:nvPr/>
        </p:nvGraphicFramePr>
        <p:xfrm>
          <a:off x="1057263" y="4779185"/>
          <a:ext cx="15278100" cy="4318000"/>
        </p:xfrm>
        <a:graphic>
          <a:graphicData uri="http://schemas.openxmlformats.org/drawingml/2006/table">
            <a:tbl>
              <a:tblPr/>
              <a:tblGrid>
                <a:gridCol w="1644557"/>
                <a:gridCol w="6581588"/>
                <a:gridCol w="2503884"/>
                <a:gridCol w="4548071"/>
              </a:tblGrid>
              <a:tr h="125345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8"/>
                        </a:lnSpc>
                        <a:defRPr/>
                      </a:pPr>
                      <a:r>
                        <a:rPr lang="en-US" sz="2199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S.NO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8"/>
                        </a:lnSpc>
                        <a:defRPr/>
                      </a:pPr>
                      <a:r>
                        <a:rPr lang="en-US" sz="2199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STUDENT NAME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8"/>
                        </a:lnSpc>
                        <a:defRPr/>
                      </a:pPr>
                      <a:r>
                        <a:rPr lang="en-US" sz="2199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SEMESTER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8"/>
                        </a:lnSpc>
                        <a:defRPr/>
                      </a:pPr>
                      <a:r>
                        <a:rPr lang="en-US" sz="2199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DEPARTMENT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151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GAUTHAM KRISHNA 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VI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AIML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151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2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HIRUTHIK SUDHAKAR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VI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AIML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151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3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KISHORE B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VI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AIML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3" id="3"/>
          <p:cNvSpPr txBox="true"/>
          <p:nvPr/>
        </p:nvSpPr>
        <p:spPr>
          <a:xfrm rot="0">
            <a:off x="7547221" y="2132882"/>
            <a:ext cx="4110484" cy="6815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47"/>
              </a:lnSpc>
            </a:pPr>
            <a:r>
              <a:rPr lang="en-US" sz="5198" b="true">
                <a:solidFill>
                  <a:srgbClr val="28568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Team details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57263" y="2804941"/>
            <a:ext cx="15802804" cy="18867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9"/>
              </a:lnSpc>
            </a:pPr>
            <a:r>
              <a:rPr lang="en-US" sz="3400" b="true">
                <a:solidFill>
                  <a:srgbClr val="BC9C2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Team Name :  </a:t>
            </a:r>
            <a:r>
              <a:rPr lang="en-US" sz="34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ZERO VECTOR</a:t>
            </a:r>
          </a:p>
          <a:p>
            <a:pPr algn="l">
              <a:lnSpc>
                <a:spcPts val="5049"/>
              </a:lnSpc>
            </a:pPr>
            <a:r>
              <a:rPr lang="en-US" sz="3400" b="true">
                <a:solidFill>
                  <a:srgbClr val="BC9C2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College Mentor Name :</a:t>
            </a:r>
            <a:r>
              <a:rPr lang="en-US" sz="34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DR. R .N. KARTHIKA</a:t>
            </a:r>
          </a:p>
          <a:p>
            <a:pPr algn="l">
              <a:lnSpc>
                <a:spcPts val="5049"/>
              </a:lnSpc>
            </a:pPr>
            <a:r>
              <a:rPr lang="en-US" sz="3400" b="true">
                <a:solidFill>
                  <a:srgbClr val="BC9C2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College Name: </a:t>
            </a:r>
            <a:r>
              <a:rPr lang="en-US" sz="34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SAVEETHA ENGINEERING COLLEGE</a:t>
            </a:r>
          </a:p>
        </p:txBody>
      </p:sp>
      <p:sp>
        <p:nvSpPr>
          <p:cNvPr name="Freeform 5" id="5"/>
          <p:cNvSpPr/>
          <p:nvPr/>
        </p:nvSpPr>
        <p:spPr>
          <a:xfrm flipH="true" flipV="false" rot="0">
            <a:off x="11657705" y="6644973"/>
            <a:ext cx="7663167" cy="4904422"/>
          </a:xfrm>
          <a:custGeom>
            <a:avLst/>
            <a:gdLst/>
            <a:ahLst/>
            <a:cxnLst/>
            <a:rect r="r" b="b" t="t" l="l"/>
            <a:pathLst>
              <a:path h="4904422" w="7663167">
                <a:moveTo>
                  <a:pt x="7663167" y="0"/>
                </a:moveTo>
                <a:lnTo>
                  <a:pt x="0" y="0"/>
                </a:lnTo>
                <a:lnTo>
                  <a:pt x="0" y="4904423"/>
                </a:lnTo>
                <a:lnTo>
                  <a:pt x="7663167" y="4904423"/>
                </a:lnTo>
                <a:lnTo>
                  <a:pt x="766316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77" r="0" b="-77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028700" y="279483"/>
            <a:ext cx="16321002" cy="1830248"/>
            <a:chOff x="0" y="0"/>
            <a:chExt cx="21761336" cy="244033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761323" cy="2440305"/>
            </a:xfrm>
            <a:custGeom>
              <a:avLst/>
              <a:gdLst/>
              <a:ahLst/>
              <a:cxnLst/>
              <a:rect r="r" b="b" t="t" l="l"/>
              <a:pathLst>
                <a:path h="2440305" w="21761323">
                  <a:moveTo>
                    <a:pt x="0" y="0"/>
                  </a:moveTo>
                  <a:lnTo>
                    <a:pt x="21761323" y="0"/>
                  </a:lnTo>
                  <a:lnTo>
                    <a:pt x="21761323" y="2440305"/>
                  </a:lnTo>
                  <a:lnTo>
                    <a:pt x="0" y="24403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6780" r="0" b="-16781"/>
              </a:stretch>
            </a:blipFill>
          </p:spPr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56911" y="3485248"/>
            <a:ext cx="14690306" cy="5275531"/>
            <a:chOff x="0" y="0"/>
            <a:chExt cx="3869052" cy="13894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869052" cy="1389440"/>
            </a:xfrm>
            <a:custGeom>
              <a:avLst/>
              <a:gdLst/>
              <a:ahLst/>
              <a:cxnLst/>
              <a:rect r="r" b="b" t="t" l="l"/>
              <a:pathLst>
                <a:path h="1389440" w="3869052">
                  <a:moveTo>
                    <a:pt x="26877" y="0"/>
                  </a:moveTo>
                  <a:lnTo>
                    <a:pt x="3842174" y="0"/>
                  </a:lnTo>
                  <a:cubicBezTo>
                    <a:pt x="3849303" y="0"/>
                    <a:pt x="3856139" y="2832"/>
                    <a:pt x="3861179" y="7872"/>
                  </a:cubicBezTo>
                  <a:cubicBezTo>
                    <a:pt x="3866220" y="12913"/>
                    <a:pt x="3869052" y="19749"/>
                    <a:pt x="3869052" y="26877"/>
                  </a:cubicBezTo>
                  <a:lnTo>
                    <a:pt x="3869052" y="1362563"/>
                  </a:lnTo>
                  <a:cubicBezTo>
                    <a:pt x="3869052" y="1377407"/>
                    <a:pt x="3857018" y="1389440"/>
                    <a:pt x="3842174" y="1389440"/>
                  </a:cubicBezTo>
                  <a:lnTo>
                    <a:pt x="26877" y="1389440"/>
                  </a:lnTo>
                  <a:cubicBezTo>
                    <a:pt x="12033" y="1389440"/>
                    <a:pt x="0" y="1377407"/>
                    <a:pt x="0" y="1362563"/>
                  </a:cubicBezTo>
                  <a:lnTo>
                    <a:pt x="0" y="26877"/>
                  </a:lnTo>
                  <a:cubicBezTo>
                    <a:pt x="0" y="12033"/>
                    <a:pt x="12033" y="0"/>
                    <a:pt x="26877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869052" cy="14275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449049" y="3211881"/>
            <a:ext cx="5233692" cy="564645"/>
            <a:chOff x="0" y="0"/>
            <a:chExt cx="1378421" cy="14871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78421" cy="148713"/>
            </a:xfrm>
            <a:custGeom>
              <a:avLst/>
              <a:gdLst/>
              <a:ahLst/>
              <a:cxnLst/>
              <a:rect r="r" b="b" t="t" l="l"/>
              <a:pathLst>
                <a:path h="148713" w="1378421">
                  <a:moveTo>
                    <a:pt x="0" y="0"/>
                  </a:moveTo>
                  <a:lnTo>
                    <a:pt x="1378421" y="0"/>
                  </a:lnTo>
                  <a:lnTo>
                    <a:pt x="1378421" y="148713"/>
                  </a:lnTo>
                  <a:lnTo>
                    <a:pt x="0" y="148713"/>
                  </a:lnTo>
                  <a:close/>
                </a:path>
              </a:pathLst>
            </a:custGeom>
            <a:solidFill>
              <a:srgbClr val="E9F2F7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378421" cy="1868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900734" y="4295007"/>
            <a:ext cx="14002661" cy="35702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4"/>
              </a:lnSpc>
            </a:pPr>
            <a:r>
              <a:rPr lang="en-US" b="true" sz="3201" u="sng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AI for Safety Gear Detection</a:t>
            </a:r>
          </a:p>
          <a:p>
            <a:pPr algn="just">
              <a:lnSpc>
                <a:spcPts val="4754"/>
              </a:lnSpc>
            </a:pPr>
          </a:p>
          <a:p>
            <a:pPr algn="just">
              <a:lnSpc>
                <a:spcPts val="4754"/>
              </a:lnSpc>
            </a:pPr>
            <a:r>
              <a:rPr lang="en-US" sz="320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Build a computer vision model that uses site CCTV feeds to detect workers not wearing helmets or harnesses in real-time and automatically logs the safety violation.</a:t>
            </a:r>
          </a:p>
          <a:p>
            <a:pPr algn="just">
              <a:lnSpc>
                <a:spcPts val="4754"/>
              </a:lnSpc>
              <a:spcBef>
                <a:spcPct val="0"/>
              </a:spcBef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2577464" y="3064056"/>
            <a:ext cx="6566536" cy="735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67"/>
              </a:lnSpc>
            </a:pPr>
            <a:r>
              <a:rPr lang="en-US" sz="4153" b="true">
                <a:solidFill>
                  <a:srgbClr val="28568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Problem statement</a:t>
            </a:r>
          </a:p>
        </p:txBody>
      </p:sp>
      <p:sp>
        <p:nvSpPr>
          <p:cNvPr name="Freeform 10" id="10"/>
          <p:cNvSpPr/>
          <p:nvPr/>
        </p:nvSpPr>
        <p:spPr>
          <a:xfrm flipH="true" flipV="false" rot="0">
            <a:off x="11657705" y="6644973"/>
            <a:ext cx="7663167" cy="4904422"/>
          </a:xfrm>
          <a:custGeom>
            <a:avLst/>
            <a:gdLst/>
            <a:ahLst/>
            <a:cxnLst/>
            <a:rect r="r" b="b" t="t" l="l"/>
            <a:pathLst>
              <a:path h="4904422" w="7663167">
                <a:moveTo>
                  <a:pt x="7663167" y="0"/>
                </a:moveTo>
                <a:lnTo>
                  <a:pt x="0" y="0"/>
                </a:lnTo>
                <a:lnTo>
                  <a:pt x="0" y="4904423"/>
                </a:lnTo>
                <a:lnTo>
                  <a:pt x="7663167" y="4904423"/>
                </a:lnTo>
                <a:lnTo>
                  <a:pt x="766316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77" r="0" b="-77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1028700" y="279483"/>
            <a:ext cx="16321002" cy="1830248"/>
            <a:chOff x="0" y="0"/>
            <a:chExt cx="21761336" cy="244033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761323" cy="2440305"/>
            </a:xfrm>
            <a:custGeom>
              <a:avLst/>
              <a:gdLst/>
              <a:ahLst/>
              <a:cxnLst/>
              <a:rect r="r" b="b" t="t" l="l"/>
              <a:pathLst>
                <a:path h="2440305" w="21761323">
                  <a:moveTo>
                    <a:pt x="0" y="0"/>
                  </a:moveTo>
                  <a:lnTo>
                    <a:pt x="21761323" y="0"/>
                  </a:lnTo>
                  <a:lnTo>
                    <a:pt x="21761323" y="2440305"/>
                  </a:lnTo>
                  <a:lnTo>
                    <a:pt x="0" y="24403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6780" r="0" b="-16781"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65816" y="3055403"/>
            <a:ext cx="14260461" cy="6672527"/>
            <a:chOff x="0" y="0"/>
            <a:chExt cx="3755842" cy="175737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755842" cy="1757373"/>
            </a:xfrm>
            <a:custGeom>
              <a:avLst/>
              <a:gdLst/>
              <a:ahLst/>
              <a:cxnLst/>
              <a:rect r="r" b="b" t="t" l="l"/>
              <a:pathLst>
                <a:path h="1757373" w="3755842">
                  <a:moveTo>
                    <a:pt x="27688" y="0"/>
                  </a:moveTo>
                  <a:lnTo>
                    <a:pt x="3728154" y="0"/>
                  </a:lnTo>
                  <a:cubicBezTo>
                    <a:pt x="3735497" y="0"/>
                    <a:pt x="3742540" y="2917"/>
                    <a:pt x="3747732" y="8110"/>
                  </a:cubicBezTo>
                  <a:cubicBezTo>
                    <a:pt x="3752925" y="13302"/>
                    <a:pt x="3755842" y="20344"/>
                    <a:pt x="3755842" y="27688"/>
                  </a:cubicBezTo>
                  <a:lnTo>
                    <a:pt x="3755842" y="1729686"/>
                  </a:lnTo>
                  <a:cubicBezTo>
                    <a:pt x="3755842" y="1737029"/>
                    <a:pt x="3752925" y="1744071"/>
                    <a:pt x="3747732" y="1749264"/>
                  </a:cubicBezTo>
                  <a:cubicBezTo>
                    <a:pt x="3742540" y="1754456"/>
                    <a:pt x="3735497" y="1757373"/>
                    <a:pt x="3728154" y="1757373"/>
                  </a:cubicBezTo>
                  <a:lnTo>
                    <a:pt x="27688" y="1757373"/>
                  </a:lnTo>
                  <a:cubicBezTo>
                    <a:pt x="20344" y="1757373"/>
                    <a:pt x="13302" y="1754456"/>
                    <a:pt x="8110" y="1749264"/>
                  </a:cubicBezTo>
                  <a:cubicBezTo>
                    <a:pt x="2917" y="1744071"/>
                    <a:pt x="0" y="1737029"/>
                    <a:pt x="0" y="1729686"/>
                  </a:cubicBezTo>
                  <a:lnTo>
                    <a:pt x="0" y="27688"/>
                  </a:lnTo>
                  <a:cubicBezTo>
                    <a:pt x="0" y="20344"/>
                    <a:pt x="2917" y="13302"/>
                    <a:pt x="8110" y="8110"/>
                  </a:cubicBezTo>
                  <a:cubicBezTo>
                    <a:pt x="13302" y="2917"/>
                    <a:pt x="20344" y="0"/>
                    <a:pt x="27688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755842" cy="17954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265184" y="8781474"/>
            <a:ext cx="12215515" cy="631422"/>
            <a:chOff x="0" y="0"/>
            <a:chExt cx="3217255" cy="1663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217255" cy="166300"/>
            </a:xfrm>
            <a:custGeom>
              <a:avLst/>
              <a:gdLst/>
              <a:ahLst/>
              <a:cxnLst/>
              <a:rect r="r" b="b" t="t" l="l"/>
              <a:pathLst>
                <a:path h="166300" w="3217255">
                  <a:moveTo>
                    <a:pt x="32323" y="0"/>
                  </a:moveTo>
                  <a:lnTo>
                    <a:pt x="3184932" y="0"/>
                  </a:lnTo>
                  <a:cubicBezTo>
                    <a:pt x="3193505" y="0"/>
                    <a:pt x="3201726" y="3405"/>
                    <a:pt x="3207788" y="9467"/>
                  </a:cubicBezTo>
                  <a:cubicBezTo>
                    <a:pt x="3213850" y="15529"/>
                    <a:pt x="3217255" y="23750"/>
                    <a:pt x="3217255" y="32323"/>
                  </a:cubicBezTo>
                  <a:lnTo>
                    <a:pt x="3217255" y="133978"/>
                  </a:lnTo>
                  <a:cubicBezTo>
                    <a:pt x="3217255" y="142550"/>
                    <a:pt x="3213850" y="150772"/>
                    <a:pt x="3207788" y="156833"/>
                  </a:cubicBezTo>
                  <a:cubicBezTo>
                    <a:pt x="3201726" y="162895"/>
                    <a:pt x="3193505" y="166300"/>
                    <a:pt x="3184932" y="166300"/>
                  </a:cubicBezTo>
                  <a:lnTo>
                    <a:pt x="32323" y="166300"/>
                  </a:lnTo>
                  <a:cubicBezTo>
                    <a:pt x="23750" y="166300"/>
                    <a:pt x="15529" y="162895"/>
                    <a:pt x="9467" y="156833"/>
                  </a:cubicBezTo>
                  <a:cubicBezTo>
                    <a:pt x="3405" y="150772"/>
                    <a:pt x="0" y="142550"/>
                    <a:pt x="0" y="133978"/>
                  </a:cubicBezTo>
                  <a:lnTo>
                    <a:pt x="0" y="32323"/>
                  </a:lnTo>
                  <a:cubicBezTo>
                    <a:pt x="0" y="23750"/>
                    <a:pt x="3405" y="15529"/>
                    <a:pt x="9467" y="9467"/>
                  </a:cubicBezTo>
                  <a:cubicBezTo>
                    <a:pt x="15529" y="3405"/>
                    <a:pt x="23750" y="0"/>
                    <a:pt x="3232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3217255" cy="204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822192" y="2782036"/>
            <a:ext cx="4929219" cy="546735"/>
            <a:chOff x="0" y="0"/>
            <a:chExt cx="1298230" cy="14399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98230" cy="143996"/>
            </a:xfrm>
            <a:custGeom>
              <a:avLst/>
              <a:gdLst/>
              <a:ahLst/>
              <a:cxnLst/>
              <a:rect r="r" b="b" t="t" l="l"/>
              <a:pathLst>
                <a:path h="143996" w="1298230">
                  <a:moveTo>
                    <a:pt x="0" y="0"/>
                  </a:moveTo>
                  <a:lnTo>
                    <a:pt x="1298230" y="0"/>
                  </a:lnTo>
                  <a:lnTo>
                    <a:pt x="1298230" y="143996"/>
                  </a:lnTo>
                  <a:lnTo>
                    <a:pt x="0" y="143996"/>
                  </a:lnTo>
                  <a:close/>
                </a:path>
              </a:pathLst>
            </a:custGeom>
            <a:solidFill>
              <a:srgbClr val="E9F2F7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298230" cy="1820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984355" y="2629636"/>
            <a:ext cx="5753310" cy="699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40"/>
              </a:lnSpc>
            </a:pPr>
            <a:r>
              <a:rPr lang="en-US" sz="3600" b="true">
                <a:solidFill>
                  <a:srgbClr val="28568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Problem description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65184" y="3427900"/>
            <a:ext cx="13861093" cy="2070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7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 </a:t>
            </a:r>
            <a:r>
              <a:rPr lang="en-US" b="true" sz="27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SAFET</a:t>
            </a:r>
            <a:r>
              <a:rPr lang="en-US" b="true" sz="27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Y CRISIS</a:t>
            </a: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Manual monitoring of construction sites is </a:t>
            </a:r>
            <a:r>
              <a:rPr lang="en-US" b="true" sz="27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inconsistent, Error-Prone , labor intensive ,Ractive(post-incident) </a:t>
            </a:r>
          </a:p>
          <a:p>
            <a:pPr algn="l">
              <a:lnSpc>
                <a:spcPts val="4157"/>
              </a:lnSpc>
              <a:spcBef>
                <a:spcPct val="0"/>
              </a:spcBef>
            </a:pPr>
          </a:p>
          <a:p>
            <a:pPr algn="l">
              <a:lnSpc>
                <a:spcPts val="4157"/>
              </a:lnSpc>
              <a:spcBef>
                <a:spcPct val="0"/>
              </a:spcBef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1265184" y="4882649"/>
            <a:ext cx="12215515" cy="36419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7"/>
              </a:lnSpc>
              <a:spcBef>
                <a:spcPct val="0"/>
              </a:spcBef>
            </a:pPr>
            <a:r>
              <a:rPr lang="en-US" b="true" sz="2799" u="sng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Manual Safety M</a:t>
            </a:r>
            <a:r>
              <a:rPr lang="en-US" b="true" sz="2799" u="sng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onitoring Inefficiencies</a:t>
            </a:r>
          </a:p>
          <a:p>
            <a:pPr algn="l">
              <a:lnSpc>
                <a:spcPts val="4157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• Supervisors manually inspect workers across large construction areas</a:t>
            </a:r>
          </a:p>
          <a:p>
            <a:pPr algn="l">
              <a:lnSpc>
                <a:spcPts val="4157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• Inconsistent monitoring due to human oversight and fatigue </a:t>
            </a:r>
          </a:p>
          <a:p>
            <a:pPr algn="l">
              <a:lnSpc>
                <a:spcPts val="4157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• Safety violations go undetected until incidents occur </a:t>
            </a:r>
          </a:p>
          <a:p>
            <a:pPr algn="l">
              <a:lnSpc>
                <a:spcPts val="4157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• Periodic inspections create continuous monitoring gaps</a:t>
            </a:r>
          </a:p>
          <a:p>
            <a:pPr algn="l">
              <a:lnSpc>
                <a:spcPts val="4157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• Reactive approach (post-incident) rather than proactive prevention </a:t>
            </a:r>
          </a:p>
          <a:p>
            <a:pPr algn="l">
              <a:lnSpc>
                <a:spcPts val="4157"/>
              </a:lnSpc>
              <a:spcBef>
                <a:spcPct val="0"/>
              </a:spcBef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1822192" y="8809720"/>
            <a:ext cx="11335048" cy="4987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57"/>
              </a:lnSpc>
              <a:spcBef>
                <a:spcPct val="0"/>
              </a:spcBef>
            </a:pPr>
            <a:r>
              <a:rPr lang="en-US" b="true" sz="27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RESULT:</a:t>
            </a:r>
            <a:r>
              <a:rPr lang="en-US" b="true" sz="27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Preventable accidents due to undetected PPE violations </a:t>
            </a:r>
          </a:p>
        </p:txBody>
      </p:sp>
      <p:sp>
        <p:nvSpPr>
          <p:cNvPr name="Freeform 15" id="15"/>
          <p:cNvSpPr/>
          <p:nvPr/>
        </p:nvSpPr>
        <p:spPr>
          <a:xfrm flipH="true" flipV="false" rot="0">
            <a:off x="11657705" y="6644973"/>
            <a:ext cx="7663167" cy="4904422"/>
          </a:xfrm>
          <a:custGeom>
            <a:avLst/>
            <a:gdLst/>
            <a:ahLst/>
            <a:cxnLst/>
            <a:rect r="r" b="b" t="t" l="l"/>
            <a:pathLst>
              <a:path h="4904422" w="7663167">
                <a:moveTo>
                  <a:pt x="7663167" y="0"/>
                </a:moveTo>
                <a:lnTo>
                  <a:pt x="0" y="0"/>
                </a:lnTo>
                <a:lnTo>
                  <a:pt x="0" y="4904423"/>
                </a:lnTo>
                <a:lnTo>
                  <a:pt x="7663167" y="4904423"/>
                </a:lnTo>
                <a:lnTo>
                  <a:pt x="766316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77" r="0" b="-77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1028700" y="279483"/>
            <a:ext cx="16321002" cy="1830248"/>
            <a:chOff x="0" y="0"/>
            <a:chExt cx="21761336" cy="244033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761323" cy="2440305"/>
            </a:xfrm>
            <a:custGeom>
              <a:avLst/>
              <a:gdLst/>
              <a:ahLst/>
              <a:cxnLst/>
              <a:rect r="r" b="b" t="t" l="l"/>
              <a:pathLst>
                <a:path h="2440305" w="21761323">
                  <a:moveTo>
                    <a:pt x="0" y="0"/>
                  </a:moveTo>
                  <a:lnTo>
                    <a:pt x="21761323" y="0"/>
                  </a:lnTo>
                  <a:lnTo>
                    <a:pt x="21761323" y="2440305"/>
                  </a:lnTo>
                  <a:lnTo>
                    <a:pt x="0" y="24403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6780" r="0" b="-16781"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93131" y="3497098"/>
            <a:ext cx="8178138" cy="3832338"/>
            <a:chOff x="0" y="0"/>
            <a:chExt cx="618937" cy="29003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18937" cy="290039"/>
            </a:xfrm>
            <a:custGeom>
              <a:avLst/>
              <a:gdLst/>
              <a:ahLst/>
              <a:cxnLst/>
              <a:rect r="r" b="b" t="t" l="l"/>
              <a:pathLst>
                <a:path h="290039" w="618937">
                  <a:moveTo>
                    <a:pt x="25454" y="0"/>
                  </a:moveTo>
                  <a:lnTo>
                    <a:pt x="593482" y="0"/>
                  </a:lnTo>
                  <a:cubicBezTo>
                    <a:pt x="600233" y="0"/>
                    <a:pt x="606708" y="2682"/>
                    <a:pt x="611481" y="7455"/>
                  </a:cubicBezTo>
                  <a:cubicBezTo>
                    <a:pt x="616255" y="12229"/>
                    <a:pt x="618937" y="18703"/>
                    <a:pt x="618937" y="25454"/>
                  </a:cubicBezTo>
                  <a:lnTo>
                    <a:pt x="618937" y="264584"/>
                  </a:lnTo>
                  <a:cubicBezTo>
                    <a:pt x="618937" y="278642"/>
                    <a:pt x="607541" y="290039"/>
                    <a:pt x="593482" y="290039"/>
                  </a:cubicBezTo>
                  <a:lnTo>
                    <a:pt x="25454" y="290039"/>
                  </a:lnTo>
                  <a:cubicBezTo>
                    <a:pt x="11396" y="290039"/>
                    <a:pt x="0" y="278642"/>
                    <a:pt x="0" y="264584"/>
                  </a:cubicBezTo>
                  <a:lnTo>
                    <a:pt x="0" y="25454"/>
                  </a:lnTo>
                  <a:cubicBezTo>
                    <a:pt x="0" y="18703"/>
                    <a:pt x="2682" y="12229"/>
                    <a:pt x="7455" y="7455"/>
                  </a:cubicBezTo>
                  <a:cubicBezTo>
                    <a:pt x="12229" y="2682"/>
                    <a:pt x="18703" y="0"/>
                    <a:pt x="25454" y="0"/>
                  </a:cubicBezTo>
                  <a:close/>
                </a:path>
              </a:pathLst>
            </a:custGeom>
            <a:solidFill>
              <a:srgbClr val="E9F2F7"/>
            </a:solidFill>
            <a:ln w="952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618937" cy="3281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612400" y="7062563"/>
            <a:ext cx="14517737" cy="15464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7"/>
              </a:lnSpc>
            </a:pPr>
          </a:p>
          <a:p>
            <a:pPr algn="l">
              <a:lnSpc>
                <a:spcPts val="4157"/>
              </a:lnSpc>
            </a:pPr>
          </a:p>
          <a:p>
            <a:pPr algn="l">
              <a:lnSpc>
                <a:spcPts val="4157"/>
              </a:lnSpc>
            </a:pPr>
            <a:r>
              <a:rPr lang="en-US" b="true" sz="27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ROOT CAUSE:</a:t>
            </a: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Lack of automated, continuous, real-time safety gear detection system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9144000" y="3497098"/>
            <a:ext cx="8205702" cy="3832338"/>
            <a:chOff x="0" y="0"/>
            <a:chExt cx="621023" cy="29003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21023" cy="290039"/>
            </a:xfrm>
            <a:custGeom>
              <a:avLst/>
              <a:gdLst/>
              <a:ahLst/>
              <a:cxnLst/>
              <a:rect r="r" b="b" t="t" l="l"/>
              <a:pathLst>
                <a:path h="290039" w="621023">
                  <a:moveTo>
                    <a:pt x="25369" y="0"/>
                  </a:moveTo>
                  <a:lnTo>
                    <a:pt x="595654" y="0"/>
                  </a:lnTo>
                  <a:cubicBezTo>
                    <a:pt x="609665" y="0"/>
                    <a:pt x="621023" y="11358"/>
                    <a:pt x="621023" y="25369"/>
                  </a:cubicBezTo>
                  <a:lnTo>
                    <a:pt x="621023" y="264670"/>
                  </a:lnTo>
                  <a:cubicBezTo>
                    <a:pt x="621023" y="278680"/>
                    <a:pt x="609665" y="290039"/>
                    <a:pt x="595654" y="290039"/>
                  </a:cubicBezTo>
                  <a:lnTo>
                    <a:pt x="25369" y="290039"/>
                  </a:lnTo>
                  <a:cubicBezTo>
                    <a:pt x="11358" y="290039"/>
                    <a:pt x="0" y="278680"/>
                    <a:pt x="0" y="264670"/>
                  </a:cubicBezTo>
                  <a:lnTo>
                    <a:pt x="0" y="25369"/>
                  </a:lnTo>
                  <a:cubicBezTo>
                    <a:pt x="0" y="11358"/>
                    <a:pt x="11358" y="0"/>
                    <a:pt x="25369" y="0"/>
                  </a:cubicBezTo>
                  <a:close/>
                </a:path>
              </a:pathLst>
            </a:custGeom>
            <a:solidFill>
              <a:srgbClr val="E9F2F7"/>
            </a:solidFill>
            <a:ln w="952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621023" cy="3281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28700" y="7741653"/>
            <a:ext cx="15437006" cy="1355532"/>
            <a:chOff x="0" y="0"/>
            <a:chExt cx="4065714" cy="35701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065713" cy="357013"/>
            </a:xfrm>
            <a:custGeom>
              <a:avLst/>
              <a:gdLst/>
              <a:ahLst/>
              <a:cxnLst/>
              <a:rect r="r" b="b" t="t" l="l"/>
              <a:pathLst>
                <a:path h="357013" w="4065713">
                  <a:moveTo>
                    <a:pt x="25577" y="0"/>
                  </a:moveTo>
                  <a:lnTo>
                    <a:pt x="4040136" y="0"/>
                  </a:lnTo>
                  <a:cubicBezTo>
                    <a:pt x="4054262" y="0"/>
                    <a:pt x="4065713" y="11451"/>
                    <a:pt x="4065713" y="25577"/>
                  </a:cubicBezTo>
                  <a:lnTo>
                    <a:pt x="4065713" y="331435"/>
                  </a:lnTo>
                  <a:cubicBezTo>
                    <a:pt x="4065713" y="338219"/>
                    <a:pt x="4063019" y="344724"/>
                    <a:pt x="4058222" y="349521"/>
                  </a:cubicBezTo>
                  <a:cubicBezTo>
                    <a:pt x="4053425" y="354318"/>
                    <a:pt x="4046920" y="357013"/>
                    <a:pt x="4040136" y="357013"/>
                  </a:cubicBezTo>
                  <a:lnTo>
                    <a:pt x="25577" y="357013"/>
                  </a:lnTo>
                  <a:cubicBezTo>
                    <a:pt x="11451" y="357013"/>
                    <a:pt x="0" y="345561"/>
                    <a:pt x="0" y="331435"/>
                  </a:cubicBezTo>
                  <a:lnTo>
                    <a:pt x="0" y="25577"/>
                  </a:lnTo>
                  <a:cubicBezTo>
                    <a:pt x="0" y="11451"/>
                    <a:pt x="11451" y="0"/>
                    <a:pt x="25577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4065714" cy="3951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963964" y="3676151"/>
            <a:ext cx="7803952" cy="31181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7"/>
              </a:lnSpc>
              <a:spcBef>
                <a:spcPct val="0"/>
              </a:spcBef>
            </a:pPr>
            <a:r>
              <a:rPr lang="en-US" b="true" sz="27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</a:t>
            </a:r>
            <a:r>
              <a:rPr lang="en-US" b="true" sz="27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urrent State: </a:t>
            </a:r>
          </a:p>
          <a:p>
            <a:pPr algn="l">
              <a:lnSpc>
                <a:spcPts val="4157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❌ Error-prone manual compliance checking </a:t>
            </a:r>
          </a:p>
          <a:p>
            <a:pPr algn="l">
              <a:lnSpc>
                <a:spcPts val="4157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❌ No real-time violation detection </a:t>
            </a:r>
          </a:p>
          <a:p>
            <a:pPr algn="l">
              <a:lnSpc>
                <a:spcPts val="4157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❌ Delayed response to safety breaches</a:t>
            </a:r>
          </a:p>
          <a:p>
            <a:pPr algn="l">
              <a:lnSpc>
                <a:spcPts val="4157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❌ Existing CCTV infrastructure underutilized</a:t>
            </a:r>
          </a:p>
          <a:p>
            <a:pPr algn="l">
              <a:lnSpc>
                <a:spcPts val="4157"/>
              </a:lnSpc>
              <a:spcBef>
                <a:spcPct val="0"/>
              </a:spcBef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9238543" y="3676151"/>
            <a:ext cx="8291699" cy="31181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7"/>
              </a:lnSpc>
            </a:pP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7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Impact: </a:t>
            </a:r>
          </a:p>
          <a:p>
            <a:pPr algn="l">
              <a:lnSpc>
                <a:spcPts val="4157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⚠️ Preventable w</a:t>
            </a: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orkplace accidents </a:t>
            </a:r>
          </a:p>
          <a:p>
            <a:pPr algn="l">
              <a:lnSpc>
                <a:spcPts val="4157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⚠️ High injury rates despite PPE requirements </a:t>
            </a:r>
          </a:p>
          <a:p>
            <a:pPr algn="l">
              <a:lnSpc>
                <a:spcPts val="4157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⚠️ Regulatory non-compliance risk </a:t>
            </a:r>
          </a:p>
          <a:p>
            <a:pPr algn="l">
              <a:lnSpc>
                <a:spcPts val="4157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⚠️ Lost productivity and liability costs </a:t>
            </a:r>
          </a:p>
          <a:p>
            <a:pPr algn="l">
              <a:lnSpc>
                <a:spcPts val="4157"/>
              </a:lnSpc>
              <a:spcBef>
                <a:spcPct val="0"/>
              </a:spcBef>
            </a:pPr>
          </a:p>
        </p:txBody>
      </p:sp>
      <p:sp>
        <p:nvSpPr>
          <p:cNvPr name="Freeform 14" id="14"/>
          <p:cNvSpPr/>
          <p:nvPr/>
        </p:nvSpPr>
        <p:spPr>
          <a:xfrm flipH="true" flipV="false" rot="0">
            <a:off x="11657705" y="6644973"/>
            <a:ext cx="7663167" cy="4904422"/>
          </a:xfrm>
          <a:custGeom>
            <a:avLst/>
            <a:gdLst/>
            <a:ahLst/>
            <a:cxnLst/>
            <a:rect r="r" b="b" t="t" l="l"/>
            <a:pathLst>
              <a:path h="4904422" w="7663167">
                <a:moveTo>
                  <a:pt x="7663167" y="0"/>
                </a:moveTo>
                <a:lnTo>
                  <a:pt x="0" y="0"/>
                </a:lnTo>
                <a:lnTo>
                  <a:pt x="0" y="4904423"/>
                </a:lnTo>
                <a:lnTo>
                  <a:pt x="7663167" y="4904423"/>
                </a:lnTo>
                <a:lnTo>
                  <a:pt x="766316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77" r="0" b="-77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1028700" y="279483"/>
            <a:ext cx="16321002" cy="1830248"/>
            <a:chOff x="0" y="0"/>
            <a:chExt cx="21761336" cy="244033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761323" cy="2440305"/>
            </a:xfrm>
            <a:custGeom>
              <a:avLst/>
              <a:gdLst/>
              <a:ahLst/>
              <a:cxnLst/>
              <a:rect r="r" b="b" t="t" l="l"/>
              <a:pathLst>
                <a:path h="2440305" w="21761323">
                  <a:moveTo>
                    <a:pt x="0" y="0"/>
                  </a:moveTo>
                  <a:lnTo>
                    <a:pt x="21761323" y="0"/>
                  </a:lnTo>
                  <a:lnTo>
                    <a:pt x="21761323" y="2440305"/>
                  </a:lnTo>
                  <a:lnTo>
                    <a:pt x="0" y="24403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6780" r="0" b="-16781"/>
              </a:stretch>
            </a:blipFill>
          </p:spPr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07129" y="2408683"/>
            <a:ext cx="17973410" cy="7878317"/>
            <a:chOff x="0" y="0"/>
            <a:chExt cx="4733738" cy="207494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733737" cy="2074948"/>
            </a:xfrm>
            <a:custGeom>
              <a:avLst/>
              <a:gdLst/>
              <a:ahLst/>
              <a:cxnLst/>
              <a:rect r="r" b="b" t="t" l="l"/>
              <a:pathLst>
                <a:path h="2074948" w="4733737">
                  <a:moveTo>
                    <a:pt x="21968" y="0"/>
                  </a:moveTo>
                  <a:lnTo>
                    <a:pt x="4711769" y="0"/>
                  </a:lnTo>
                  <a:cubicBezTo>
                    <a:pt x="4717596" y="0"/>
                    <a:pt x="4723183" y="2314"/>
                    <a:pt x="4727303" y="6434"/>
                  </a:cubicBezTo>
                  <a:cubicBezTo>
                    <a:pt x="4731423" y="10554"/>
                    <a:pt x="4733737" y="16142"/>
                    <a:pt x="4733737" y="21968"/>
                  </a:cubicBezTo>
                  <a:lnTo>
                    <a:pt x="4733737" y="2052980"/>
                  </a:lnTo>
                  <a:cubicBezTo>
                    <a:pt x="4733737" y="2058806"/>
                    <a:pt x="4731423" y="2064394"/>
                    <a:pt x="4727303" y="2068513"/>
                  </a:cubicBezTo>
                  <a:cubicBezTo>
                    <a:pt x="4723183" y="2072633"/>
                    <a:pt x="4717596" y="2074948"/>
                    <a:pt x="4711769" y="2074948"/>
                  </a:cubicBezTo>
                  <a:lnTo>
                    <a:pt x="21968" y="2074948"/>
                  </a:lnTo>
                  <a:cubicBezTo>
                    <a:pt x="16142" y="2074948"/>
                    <a:pt x="10554" y="2072633"/>
                    <a:pt x="6434" y="2068513"/>
                  </a:cubicBezTo>
                  <a:cubicBezTo>
                    <a:pt x="2314" y="2064394"/>
                    <a:pt x="0" y="2058806"/>
                    <a:pt x="0" y="2052980"/>
                  </a:cubicBezTo>
                  <a:lnTo>
                    <a:pt x="0" y="21968"/>
                  </a:lnTo>
                  <a:cubicBezTo>
                    <a:pt x="0" y="16142"/>
                    <a:pt x="2314" y="10554"/>
                    <a:pt x="6434" y="6434"/>
                  </a:cubicBezTo>
                  <a:cubicBezTo>
                    <a:pt x="10554" y="2314"/>
                    <a:pt x="16142" y="0"/>
                    <a:pt x="21968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733738" cy="21130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9273240" y="2760535"/>
            <a:ext cx="8458344" cy="46897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7"/>
              </a:lnSpc>
              <a:spcBef>
                <a:spcPct val="0"/>
              </a:spcBef>
            </a:pPr>
            <a:r>
              <a:rPr lang="en-US" b="true" sz="27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4. S</a:t>
            </a:r>
            <a:r>
              <a:rPr lang="en-US" b="true" sz="27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YSTEM INTEGRATION  </a:t>
            </a:r>
          </a:p>
          <a:p>
            <a:pPr algn="l">
              <a:lnSpc>
                <a:spcPts val="4157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• Integrate with existing CCTV infrastructure </a:t>
            </a:r>
          </a:p>
          <a:p>
            <a:pPr algn="l">
              <a:lnSpc>
                <a:spcPts val="4157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• Generate immediate site alerts</a:t>
            </a:r>
          </a:p>
          <a:p>
            <a:pPr algn="l">
              <a:lnSpc>
                <a:spcPts val="4157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• Support multi-camera deployment</a:t>
            </a:r>
          </a:p>
          <a:p>
            <a:pPr algn="l">
              <a:lnSpc>
                <a:spcPts val="4157"/>
              </a:lnSpc>
              <a:spcBef>
                <a:spcPct val="0"/>
              </a:spcBef>
            </a:pPr>
          </a:p>
          <a:p>
            <a:pPr algn="l">
              <a:lnSpc>
                <a:spcPts val="4157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b="true" sz="27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5. SCALABILITY &amp; ROBUSTNESS  </a:t>
            </a:r>
          </a:p>
          <a:p>
            <a:pPr algn="l">
              <a:lnSpc>
                <a:spcPts val="4157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• Support 4+ concurrent camera feeds  </a:t>
            </a:r>
          </a:p>
          <a:p>
            <a:pPr algn="l">
              <a:lnSpc>
                <a:spcPts val="4157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• Operate continuously during site hours (&gt;99.5%) </a:t>
            </a:r>
          </a:p>
          <a:p>
            <a:pPr algn="l">
              <a:lnSpc>
                <a:spcPts val="4157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• Handle variable lighting, angle, worker densities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65846" y="2760535"/>
            <a:ext cx="8807394" cy="73091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7"/>
              </a:lnSpc>
              <a:spcBef>
                <a:spcPct val="0"/>
              </a:spcBef>
            </a:pPr>
            <a:r>
              <a:rPr lang="en-US" b="true" sz="27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1. DETECTION ACCURAC</a:t>
            </a:r>
            <a:r>
              <a:rPr lang="en-US" b="true" sz="27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Y </a:t>
            </a:r>
          </a:p>
          <a:p>
            <a:pPr algn="l">
              <a:lnSpc>
                <a:spcPts val="4157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• Achieve ≥95% recall for missing helmet detection </a:t>
            </a:r>
          </a:p>
          <a:p>
            <a:pPr algn="l">
              <a:lnSpc>
                <a:spcPts val="4157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• Achieve ≥95% recall for missing harness detection </a:t>
            </a:r>
          </a:p>
          <a:p>
            <a:pPr algn="l">
              <a:lnSpc>
                <a:spcPts val="4157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• Maintain ≥92% precision to reduce alert fatigue </a:t>
            </a:r>
          </a:p>
          <a:p>
            <a:pPr algn="l">
              <a:lnSpc>
                <a:spcPts val="4157"/>
              </a:lnSpc>
              <a:spcBef>
                <a:spcPct val="0"/>
              </a:spcBef>
            </a:pPr>
          </a:p>
          <a:p>
            <a:pPr algn="l">
              <a:lnSpc>
                <a:spcPts val="4157"/>
              </a:lnSpc>
              <a:spcBef>
                <a:spcPct val="0"/>
              </a:spcBef>
            </a:pPr>
            <a:r>
              <a:rPr lang="en-US" b="true" sz="27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2. REAL-TIME PERFORMANCE </a:t>
            </a:r>
          </a:p>
          <a:p>
            <a:pPr algn="l">
              <a:lnSpc>
                <a:spcPts val="4157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• Process video at ≥20 FPS</a:t>
            </a:r>
          </a:p>
          <a:p>
            <a:pPr algn="l">
              <a:lnSpc>
                <a:spcPts val="4157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• Latency ≤150ms end-to-end </a:t>
            </a:r>
          </a:p>
          <a:p>
            <a:pPr algn="l">
              <a:lnSpc>
                <a:spcPts val="4157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• Alert delivery ≤100ms </a:t>
            </a:r>
          </a:p>
          <a:p>
            <a:pPr algn="l">
              <a:lnSpc>
                <a:spcPts val="4157"/>
              </a:lnSpc>
              <a:spcBef>
                <a:spcPct val="0"/>
              </a:spcBef>
            </a:pPr>
          </a:p>
          <a:p>
            <a:pPr algn="l">
              <a:lnSpc>
                <a:spcPts val="4157"/>
              </a:lnSpc>
              <a:spcBef>
                <a:spcPct val="0"/>
              </a:spcBef>
            </a:pPr>
            <a:r>
              <a:rPr lang="en-US" b="true" sz="27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3. AUTOMATED VIOLATION LOGGING</a:t>
            </a:r>
          </a:p>
          <a:p>
            <a:pPr algn="l">
              <a:lnSpc>
                <a:spcPts val="4157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• Automatically capture violation metadata </a:t>
            </a:r>
          </a:p>
          <a:p>
            <a:pPr algn="l">
              <a:lnSpc>
                <a:spcPts val="4157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• Log violations with detection confidence scores </a:t>
            </a:r>
          </a:p>
          <a:p>
            <a:pPr algn="l">
              <a:lnSpc>
                <a:spcPts val="4157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• Maintain audit trail for compliance review 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7549365" y="2126361"/>
            <a:ext cx="3098867" cy="564645"/>
            <a:chOff x="0" y="0"/>
            <a:chExt cx="816163" cy="14871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6163" cy="148713"/>
            </a:xfrm>
            <a:custGeom>
              <a:avLst/>
              <a:gdLst/>
              <a:ahLst/>
              <a:cxnLst/>
              <a:rect r="r" b="b" t="t" l="l"/>
              <a:pathLst>
                <a:path h="148713" w="816163">
                  <a:moveTo>
                    <a:pt x="0" y="0"/>
                  </a:moveTo>
                  <a:lnTo>
                    <a:pt x="816163" y="0"/>
                  </a:lnTo>
                  <a:lnTo>
                    <a:pt x="816163" y="148713"/>
                  </a:lnTo>
                  <a:lnTo>
                    <a:pt x="0" y="148713"/>
                  </a:lnTo>
                  <a:close/>
                </a:path>
              </a:pathLst>
            </a:custGeom>
            <a:solidFill>
              <a:srgbClr val="E9F2F7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816163" cy="1868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7701017" y="2063401"/>
            <a:ext cx="2947216" cy="721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40"/>
              </a:lnSpc>
            </a:pPr>
            <a:r>
              <a:rPr lang="en-US" sz="4000" b="true">
                <a:solidFill>
                  <a:srgbClr val="28568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Objectives</a:t>
            </a:r>
          </a:p>
        </p:txBody>
      </p:sp>
      <p:sp>
        <p:nvSpPr>
          <p:cNvPr name="Freeform 11" id="11"/>
          <p:cNvSpPr/>
          <p:nvPr/>
        </p:nvSpPr>
        <p:spPr>
          <a:xfrm flipH="true" flipV="false" rot="0">
            <a:off x="11657705" y="6644973"/>
            <a:ext cx="7663167" cy="4904422"/>
          </a:xfrm>
          <a:custGeom>
            <a:avLst/>
            <a:gdLst/>
            <a:ahLst/>
            <a:cxnLst/>
            <a:rect r="r" b="b" t="t" l="l"/>
            <a:pathLst>
              <a:path h="4904422" w="7663167">
                <a:moveTo>
                  <a:pt x="7663167" y="0"/>
                </a:moveTo>
                <a:lnTo>
                  <a:pt x="0" y="0"/>
                </a:lnTo>
                <a:lnTo>
                  <a:pt x="0" y="4904423"/>
                </a:lnTo>
                <a:lnTo>
                  <a:pt x="7663167" y="4904423"/>
                </a:lnTo>
                <a:lnTo>
                  <a:pt x="766316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77" r="0" b="-77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1028700" y="279483"/>
            <a:ext cx="16321002" cy="1830248"/>
            <a:chOff x="0" y="0"/>
            <a:chExt cx="21761336" cy="244033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761323" cy="2440305"/>
            </a:xfrm>
            <a:custGeom>
              <a:avLst/>
              <a:gdLst/>
              <a:ahLst/>
              <a:cxnLst/>
              <a:rect r="r" b="b" t="t" l="l"/>
              <a:pathLst>
                <a:path h="2440305" w="21761323">
                  <a:moveTo>
                    <a:pt x="0" y="0"/>
                  </a:moveTo>
                  <a:lnTo>
                    <a:pt x="21761323" y="0"/>
                  </a:lnTo>
                  <a:lnTo>
                    <a:pt x="21761323" y="2440305"/>
                  </a:lnTo>
                  <a:lnTo>
                    <a:pt x="0" y="24403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6780" r="0" b="-16781"/>
              </a:stretch>
            </a:blipFill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72591" y="2455251"/>
            <a:ext cx="3642602" cy="6323937"/>
          </a:xfrm>
          <a:custGeom>
            <a:avLst/>
            <a:gdLst/>
            <a:ahLst/>
            <a:cxnLst/>
            <a:rect r="r" b="b" t="t" l="l"/>
            <a:pathLst>
              <a:path h="6323937" w="3642602">
                <a:moveTo>
                  <a:pt x="0" y="0"/>
                </a:moveTo>
                <a:lnTo>
                  <a:pt x="3642602" y="0"/>
                </a:lnTo>
                <a:lnTo>
                  <a:pt x="3642602" y="6323937"/>
                </a:lnTo>
                <a:lnTo>
                  <a:pt x="0" y="632393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2567" b="-1547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950232" y="2455251"/>
            <a:ext cx="3348826" cy="6323937"/>
          </a:xfrm>
          <a:custGeom>
            <a:avLst/>
            <a:gdLst/>
            <a:ahLst/>
            <a:cxnLst/>
            <a:rect r="r" b="b" t="t" l="l"/>
            <a:pathLst>
              <a:path h="6323937" w="3348826">
                <a:moveTo>
                  <a:pt x="0" y="0"/>
                </a:moveTo>
                <a:lnTo>
                  <a:pt x="3348826" y="0"/>
                </a:lnTo>
                <a:lnTo>
                  <a:pt x="3348826" y="6323937"/>
                </a:lnTo>
                <a:lnTo>
                  <a:pt x="0" y="632393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6875" t="-5567" r="-12133" b="-3796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119601" y="2455251"/>
            <a:ext cx="4982110" cy="6323937"/>
          </a:xfrm>
          <a:custGeom>
            <a:avLst/>
            <a:gdLst/>
            <a:ahLst/>
            <a:cxnLst/>
            <a:rect r="r" b="b" t="t" l="l"/>
            <a:pathLst>
              <a:path h="6323937" w="4982110">
                <a:moveTo>
                  <a:pt x="0" y="0"/>
                </a:moveTo>
                <a:lnTo>
                  <a:pt x="4982110" y="0"/>
                </a:lnTo>
                <a:lnTo>
                  <a:pt x="4982110" y="6323937"/>
                </a:lnTo>
                <a:lnTo>
                  <a:pt x="0" y="63239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4031" t="-4076" r="-4031" b="-433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0" y="8874438"/>
            <a:ext cx="16465706" cy="1693026"/>
            <a:chOff x="0" y="0"/>
            <a:chExt cx="21954275" cy="2257368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454666"/>
              <a:ext cx="8631775" cy="6007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779"/>
                </a:lnSpc>
              </a:pPr>
              <a:r>
                <a:rPr lang="en-US" sz="2700" b="true">
                  <a:solidFill>
                    <a:srgbClr val="215E98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Architecture Diagram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15055865" y="313284"/>
              <a:ext cx="6650503" cy="187064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782"/>
                </a:lnSpc>
              </a:pPr>
              <a:r>
                <a:rPr lang="en-US" sz="2701" b="true">
                  <a:solidFill>
                    <a:srgbClr val="215E98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 YOLO Based Object Detection Flow</a:t>
              </a:r>
            </a:p>
            <a:p>
              <a:pPr algn="ctr">
                <a:lnSpc>
                  <a:spcPts val="3782"/>
                </a:lnSpc>
              </a:pP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7733516" y="220796"/>
              <a:ext cx="7494717" cy="20365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157"/>
                </a:lnSpc>
                <a:spcBef>
                  <a:spcPct val="0"/>
                </a:spcBef>
              </a:pPr>
              <a:r>
                <a:rPr lang="en-US" b="true" sz="2799">
                  <a:solidFill>
                    <a:srgbClr val="215E98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D</a:t>
              </a:r>
              <a:r>
                <a:rPr lang="en-US" b="true" sz="2799">
                  <a:solidFill>
                    <a:srgbClr val="215E98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etection and Safety Gear Association Logic</a:t>
              </a:r>
            </a:p>
            <a:p>
              <a:pPr algn="ctr">
                <a:lnSpc>
                  <a:spcPts val="4157"/>
                </a:lnSpc>
                <a:spcBef>
                  <a:spcPct val="0"/>
                </a:spcBef>
              </a:pPr>
            </a:p>
          </p:txBody>
        </p:sp>
        <p:grpSp>
          <p:nvGrpSpPr>
            <p:cNvPr name="Group 9" id="9"/>
            <p:cNvGrpSpPr/>
            <p:nvPr/>
          </p:nvGrpSpPr>
          <p:grpSpPr>
            <a:xfrm rot="0">
              <a:off x="1371600" y="0"/>
              <a:ext cx="20582675" cy="1807376"/>
              <a:chOff x="0" y="0"/>
              <a:chExt cx="4065714" cy="357013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4065713" cy="357013"/>
              </a:xfrm>
              <a:custGeom>
                <a:avLst/>
                <a:gdLst/>
                <a:ahLst/>
                <a:cxnLst/>
                <a:rect r="r" b="b" t="t" l="l"/>
                <a:pathLst>
                  <a:path h="357013" w="4065713">
                    <a:moveTo>
                      <a:pt x="25577" y="0"/>
                    </a:moveTo>
                    <a:lnTo>
                      <a:pt x="4040136" y="0"/>
                    </a:lnTo>
                    <a:cubicBezTo>
                      <a:pt x="4054262" y="0"/>
                      <a:pt x="4065713" y="11451"/>
                      <a:pt x="4065713" y="25577"/>
                    </a:cubicBezTo>
                    <a:lnTo>
                      <a:pt x="4065713" y="331435"/>
                    </a:lnTo>
                    <a:cubicBezTo>
                      <a:pt x="4065713" y="338219"/>
                      <a:pt x="4063019" y="344724"/>
                      <a:pt x="4058222" y="349521"/>
                    </a:cubicBezTo>
                    <a:cubicBezTo>
                      <a:pt x="4053425" y="354318"/>
                      <a:pt x="4046920" y="357013"/>
                      <a:pt x="4040136" y="357013"/>
                    </a:cubicBezTo>
                    <a:lnTo>
                      <a:pt x="25577" y="357013"/>
                    </a:lnTo>
                    <a:cubicBezTo>
                      <a:pt x="11451" y="357013"/>
                      <a:pt x="0" y="345561"/>
                      <a:pt x="0" y="331435"/>
                    </a:cubicBezTo>
                    <a:lnTo>
                      <a:pt x="0" y="25577"/>
                    </a:lnTo>
                    <a:cubicBezTo>
                      <a:pt x="0" y="11451"/>
                      <a:pt x="11451" y="0"/>
                      <a:pt x="25577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0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4065714" cy="39511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sp>
        <p:nvSpPr>
          <p:cNvPr name="Freeform 12" id="12"/>
          <p:cNvSpPr/>
          <p:nvPr/>
        </p:nvSpPr>
        <p:spPr>
          <a:xfrm flipH="true" flipV="false" rot="0">
            <a:off x="11657705" y="6644973"/>
            <a:ext cx="7663167" cy="4904422"/>
          </a:xfrm>
          <a:custGeom>
            <a:avLst/>
            <a:gdLst/>
            <a:ahLst/>
            <a:cxnLst/>
            <a:rect r="r" b="b" t="t" l="l"/>
            <a:pathLst>
              <a:path h="4904422" w="7663167">
                <a:moveTo>
                  <a:pt x="7663167" y="0"/>
                </a:moveTo>
                <a:lnTo>
                  <a:pt x="0" y="0"/>
                </a:lnTo>
                <a:lnTo>
                  <a:pt x="0" y="4904423"/>
                </a:lnTo>
                <a:lnTo>
                  <a:pt x="7663167" y="4904423"/>
                </a:lnTo>
                <a:lnTo>
                  <a:pt x="7663167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-77" r="0" b="-77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1028700" y="279483"/>
            <a:ext cx="16321002" cy="1830248"/>
            <a:chOff x="0" y="0"/>
            <a:chExt cx="21761336" cy="244033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761323" cy="2440305"/>
            </a:xfrm>
            <a:custGeom>
              <a:avLst/>
              <a:gdLst/>
              <a:ahLst/>
              <a:cxnLst/>
              <a:rect r="r" b="b" t="t" l="l"/>
              <a:pathLst>
                <a:path h="2440305" w="21761323">
                  <a:moveTo>
                    <a:pt x="0" y="0"/>
                  </a:moveTo>
                  <a:lnTo>
                    <a:pt x="21761323" y="0"/>
                  </a:lnTo>
                  <a:lnTo>
                    <a:pt x="21761323" y="2440305"/>
                  </a:lnTo>
                  <a:lnTo>
                    <a:pt x="0" y="24403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16780" r="0" b="-16781"/>
              </a:stretch>
            </a:blipFill>
          </p:spPr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28204" y="3237910"/>
            <a:ext cx="7086451" cy="23193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12"/>
              </a:lnSpc>
            </a:pPr>
            <a:r>
              <a:rPr lang="en-US" b="true" sz="2499" u="sng">
                <a:solidFill>
                  <a:srgbClr val="28568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DETECTION PERFORMANCE: </a:t>
            </a:r>
          </a:p>
          <a:p>
            <a:pPr algn="just">
              <a:lnSpc>
                <a:spcPts val="3712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✓ Achieved </a:t>
            </a:r>
            <a:r>
              <a:rPr lang="en-US" b="true" sz="24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95.2% </a:t>
            </a: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recall f</a:t>
            </a: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or helmet detection </a:t>
            </a:r>
          </a:p>
          <a:p>
            <a:pPr algn="just">
              <a:lnSpc>
                <a:spcPts val="3712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✓ Achieved </a:t>
            </a:r>
            <a:r>
              <a:rPr lang="en-US" b="true" sz="24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93.8%</a:t>
            </a: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recall for harness detection </a:t>
            </a:r>
          </a:p>
          <a:p>
            <a:pPr algn="just">
              <a:lnSpc>
                <a:spcPts val="3712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✓ Overall mAP@ </a:t>
            </a:r>
            <a:r>
              <a:rPr lang="en-US" b="true" sz="24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0.5: 89.1% </a:t>
            </a: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across all classes </a:t>
            </a:r>
          </a:p>
          <a:p>
            <a:pPr algn="just">
              <a:lnSpc>
                <a:spcPts val="3712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✓ Precision: </a:t>
            </a:r>
            <a:r>
              <a:rPr lang="en-US" b="true" sz="24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91.7% </a:t>
            </a: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(minimal false alerts)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728204" y="6303127"/>
            <a:ext cx="8011864" cy="27860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12"/>
              </a:lnSpc>
            </a:pPr>
            <a:r>
              <a:rPr lang="en-US" b="true" sz="2499" u="sng">
                <a:solidFill>
                  <a:srgbClr val="28568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ROBUSTNESS ACROSS CONDITIONS:</a:t>
            </a:r>
          </a:p>
          <a:p>
            <a:pPr algn="just">
              <a:lnSpc>
                <a:spcPts val="3712"/>
              </a:lnSpc>
            </a:pP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✓ Daytime performance: </a:t>
            </a:r>
            <a:r>
              <a:rPr lang="en-US" sz="24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94.1% recall </a:t>
            </a:r>
          </a:p>
          <a:p>
            <a:pPr algn="just">
              <a:lnSpc>
                <a:spcPts val="3712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✓</a:t>
            </a: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Low-light performance: </a:t>
            </a:r>
            <a:r>
              <a:rPr lang="en-US" b="true" sz="24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89.3% recall</a:t>
            </a: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</a:p>
          <a:p>
            <a:pPr algn="just">
              <a:lnSpc>
                <a:spcPts val="3712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✓ Occluded workers (50%): </a:t>
            </a:r>
            <a:r>
              <a:rPr lang="en-US" b="true" sz="24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88.2% recall </a:t>
            </a:r>
          </a:p>
          <a:p>
            <a:pPr algn="just">
              <a:lnSpc>
                <a:spcPts val="3712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✓ Multi-worker scenarios (10+ workers): </a:t>
            </a:r>
            <a:r>
              <a:rPr lang="en-US" b="true" sz="24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91.5% recall</a:t>
            </a: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</a:p>
          <a:p>
            <a:pPr algn="just">
              <a:lnSpc>
                <a:spcPts val="3712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✓ Distance variations (5-30m): </a:t>
            </a:r>
            <a:r>
              <a:rPr lang="en-US" b="true" sz="24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87.4% average recall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466111" y="3243001"/>
            <a:ext cx="9386618" cy="23193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2"/>
              </a:lnSpc>
            </a:pPr>
            <a:r>
              <a:rPr lang="en-US" sz="2499" u="sng" b="true">
                <a:solidFill>
                  <a:srgbClr val="28568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DEPLOYMENT READINESS: </a:t>
            </a:r>
          </a:p>
          <a:p>
            <a:pPr algn="l">
              <a:lnSpc>
                <a:spcPts val="3712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✓ Modular architecture supp</a:t>
            </a: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orts </a:t>
            </a:r>
            <a:r>
              <a:rPr lang="en-US" b="true" sz="24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single/multi-camera </a:t>
            </a: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</a:p>
          <a:p>
            <a:pPr algn="l">
              <a:lnSpc>
                <a:spcPts val="3712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✓ </a:t>
            </a:r>
            <a:r>
              <a:rPr lang="en-US" b="true" sz="24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RTSP/HTTP</a:t>
            </a: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stream compatibility verified </a:t>
            </a:r>
          </a:p>
          <a:p>
            <a:pPr algn="l">
              <a:lnSpc>
                <a:spcPts val="3712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✓ Scalable to </a:t>
            </a:r>
            <a:r>
              <a:rPr lang="en-US" b="true" sz="24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enterprise safety</a:t>
            </a: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management systems </a:t>
            </a:r>
          </a:p>
          <a:p>
            <a:pPr algn="l">
              <a:lnSpc>
                <a:spcPts val="3712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✓ Production-ready </a:t>
            </a:r>
            <a:r>
              <a:rPr lang="en-US" b="true" sz="24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violation logging</a:t>
            </a: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with audit trails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558993" y="6303127"/>
            <a:ext cx="9386618" cy="23193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2"/>
              </a:lnSpc>
            </a:pPr>
            <a:r>
              <a:rPr lang="en-US" sz="2499" u="sng" b="true">
                <a:solidFill>
                  <a:srgbClr val="28568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REAL-TIME PERFORMANCE: </a:t>
            </a:r>
          </a:p>
          <a:p>
            <a:pPr algn="l">
              <a:lnSpc>
                <a:spcPts val="3712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✓ Proces</a:t>
            </a: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sing speed: </a:t>
            </a:r>
            <a:r>
              <a:rPr lang="en-US" b="true" sz="24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28 FPS</a:t>
            </a: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on standard GPU</a:t>
            </a:r>
          </a:p>
          <a:p>
            <a:pPr algn="l">
              <a:lnSpc>
                <a:spcPts val="3712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✓ End-to-end latency:</a:t>
            </a:r>
            <a:r>
              <a:rPr lang="en-US" b="true" sz="24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127ms </a:t>
            </a: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(target: ≤150ms) </a:t>
            </a:r>
          </a:p>
          <a:p>
            <a:pPr algn="l">
              <a:lnSpc>
                <a:spcPts val="3712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✓ Frame inference time: </a:t>
            </a:r>
            <a:r>
              <a:rPr lang="en-US" b="true" sz="24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45ms </a:t>
            </a:r>
          </a:p>
          <a:p>
            <a:pPr algn="l">
              <a:lnSpc>
                <a:spcPts val="3712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✓ Alert delivery: </a:t>
            </a:r>
            <a:r>
              <a:rPr lang="en-US" b="true" sz="24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82ms</a:t>
            </a: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average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288624" y="2572312"/>
            <a:ext cx="17478770" cy="7373362"/>
            <a:chOff x="0" y="0"/>
            <a:chExt cx="4603462" cy="194195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603462" cy="1941955"/>
            </a:xfrm>
            <a:custGeom>
              <a:avLst/>
              <a:gdLst/>
              <a:ahLst/>
              <a:cxnLst/>
              <a:rect r="r" b="b" t="t" l="l"/>
              <a:pathLst>
                <a:path h="1941955" w="4603462">
                  <a:moveTo>
                    <a:pt x="22590" y="0"/>
                  </a:moveTo>
                  <a:lnTo>
                    <a:pt x="4580872" y="0"/>
                  </a:lnTo>
                  <a:cubicBezTo>
                    <a:pt x="4593348" y="0"/>
                    <a:pt x="4603462" y="10114"/>
                    <a:pt x="4603462" y="22590"/>
                  </a:cubicBezTo>
                  <a:lnTo>
                    <a:pt x="4603462" y="1919366"/>
                  </a:lnTo>
                  <a:cubicBezTo>
                    <a:pt x="4603462" y="1931842"/>
                    <a:pt x="4593348" y="1941955"/>
                    <a:pt x="4580872" y="1941955"/>
                  </a:cubicBezTo>
                  <a:lnTo>
                    <a:pt x="22590" y="1941955"/>
                  </a:lnTo>
                  <a:cubicBezTo>
                    <a:pt x="10114" y="1941955"/>
                    <a:pt x="0" y="1931842"/>
                    <a:pt x="0" y="1919366"/>
                  </a:cubicBezTo>
                  <a:lnTo>
                    <a:pt x="0" y="22590"/>
                  </a:lnTo>
                  <a:cubicBezTo>
                    <a:pt x="0" y="10114"/>
                    <a:pt x="10114" y="0"/>
                    <a:pt x="2259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4603462" cy="19800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5968344" y="2289990"/>
            <a:ext cx="3220857" cy="691778"/>
            <a:chOff x="0" y="0"/>
            <a:chExt cx="848291" cy="18219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48291" cy="182197"/>
            </a:xfrm>
            <a:custGeom>
              <a:avLst/>
              <a:gdLst/>
              <a:ahLst/>
              <a:cxnLst/>
              <a:rect r="r" b="b" t="t" l="l"/>
              <a:pathLst>
                <a:path h="182197" w="848291">
                  <a:moveTo>
                    <a:pt x="0" y="0"/>
                  </a:moveTo>
                  <a:lnTo>
                    <a:pt x="848291" y="0"/>
                  </a:lnTo>
                  <a:lnTo>
                    <a:pt x="848291" y="182197"/>
                  </a:lnTo>
                  <a:lnTo>
                    <a:pt x="0" y="182197"/>
                  </a:lnTo>
                  <a:close/>
                </a:path>
              </a:pathLst>
            </a:custGeom>
            <a:solidFill>
              <a:srgbClr val="E9F2F7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848291" cy="2202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6359374" y="2375715"/>
            <a:ext cx="2668635" cy="6060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3"/>
              </a:lnSpc>
            </a:pPr>
            <a:r>
              <a:rPr lang="en-US" sz="4548" b="true">
                <a:solidFill>
                  <a:srgbClr val="28568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Findings</a:t>
            </a:r>
          </a:p>
        </p:txBody>
      </p:sp>
      <p:sp>
        <p:nvSpPr>
          <p:cNvPr name="Freeform 13" id="13"/>
          <p:cNvSpPr/>
          <p:nvPr/>
        </p:nvSpPr>
        <p:spPr>
          <a:xfrm flipH="true" flipV="false" rot="0">
            <a:off x="11657705" y="6644973"/>
            <a:ext cx="7663167" cy="4904422"/>
          </a:xfrm>
          <a:custGeom>
            <a:avLst/>
            <a:gdLst/>
            <a:ahLst/>
            <a:cxnLst/>
            <a:rect r="r" b="b" t="t" l="l"/>
            <a:pathLst>
              <a:path h="4904422" w="7663167">
                <a:moveTo>
                  <a:pt x="7663167" y="0"/>
                </a:moveTo>
                <a:lnTo>
                  <a:pt x="0" y="0"/>
                </a:lnTo>
                <a:lnTo>
                  <a:pt x="0" y="4904423"/>
                </a:lnTo>
                <a:lnTo>
                  <a:pt x="7663167" y="4904423"/>
                </a:lnTo>
                <a:lnTo>
                  <a:pt x="766316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77" r="0" b="-77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1028700" y="279483"/>
            <a:ext cx="16321002" cy="1830248"/>
            <a:chOff x="0" y="0"/>
            <a:chExt cx="21761336" cy="244033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1761323" cy="2440305"/>
            </a:xfrm>
            <a:custGeom>
              <a:avLst/>
              <a:gdLst/>
              <a:ahLst/>
              <a:cxnLst/>
              <a:rect r="r" b="b" t="t" l="l"/>
              <a:pathLst>
                <a:path h="2440305" w="21761323">
                  <a:moveTo>
                    <a:pt x="0" y="0"/>
                  </a:moveTo>
                  <a:lnTo>
                    <a:pt x="21761323" y="0"/>
                  </a:lnTo>
                  <a:lnTo>
                    <a:pt x="21761323" y="2440305"/>
                  </a:lnTo>
                  <a:lnTo>
                    <a:pt x="0" y="24403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6780" r="0" b="-16781"/>
              </a:stretch>
            </a:blipFill>
          </p:spPr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88624" y="2572312"/>
            <a:ext cx="17478770" cy="7373362"/>
            <a:chOff x="0" y="0"/>
            <a:chExt cx="4603462" cy="194195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03462" cy="1941955"/>
            </a:xfrm>
            <a:custGeom>
              <a:avLst/>
              <a:gdLst/>
              <a:ahLst/>
              <a:cxnLst/>
              <a:rect r="r" b="b" t="t" l="l"/>
              <a:pathLst>
                <a:path h="1941955" w="4603462">
                  <a:moveTo>
                    <a:pt x="22590" y="0"/>
                  </a:moveTo>
                  <a:lnTo>
                    <a:pt x="4580872" y="0"/>
                  </a:lnTo>
                  <a:cubicBezTo>
                    <a:pt x="4593348" y="0"/>
                    <a:pt x="4603462" y="10114"/>
                    <a:pt x="4603462" y="22590"/>
                  </a:cubicBezTo>
                  <a:lnTo>
                    <a:pt x="4603462" y="1919366"/>
                  </a:lnTo>
                  <a:cubicBezTo>
                    <a:pt x="4603462" y="1931842"/>
                    <a:pt x="4593348" y="1941955"/>
                    <a:pt x="4580872" y="1941955"/>
                  </a:cubicBezTo>
                  <a:lnTo>
                    <a:pt x="22590" y="1941955"/>
                  </a:lnTo>
                  <a:cubicBezTo>
                    <a:pt x="10114" y="1941955"/>
                    <a:pt x="0" y="1931842"/>
                    <a:pt x="0" y="1919366"/>
                  </a:cubicBezTo>
                  <a:lnTo>
                    <a:pt x="0" y="22590"/>
                  </a:lnTo>
                  <a:cubicBezTo>
                    <a:pt x="0" y="10114"/>
                    <a:pt x="10114" y="0"/>
                    <a:pt x="2259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603462" cy="19800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true" flipV="false" rot="0">
            <a:off x="11657705" y="6644973"/>
            <a:ext cx="7663167" cy="4904422"/>
          </a:xfrm>
          <a:custGeom>
            <a:avLst/>
            <a:gdLst/>
            <a:ahLst/>
            <a:cxnLst/>
            <a:rect r="r" b="b" t="t" l="l"/>
            <a:pathLst>
              <a:path h="4904422" w="7663167">
                <a:moveTo>
                  <a:pt x="7663167" y="0"/>
                </a:moveTo>
                <a:lnTo>
                  <a:pt x="0" y="0"/>
                </a:lnTo>
                <a:lnTo>
                  <a:pt x="0" y="4904423"/>
                </a:lnTo>
                <a:lnTo>
                  <a:pt x="7663167" y="4904423"/>
                </a:lnTo>
                <a:lnTo>
                  <a:pt x="766316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77" r="0" b="-77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456408" y="3779551"/>
            <a:ext cx="13680995" cy="6261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7"/>
              </a:lnSpc>
              <a:spcBef>
                <a:spcPct val="0"/>
              </a:spcBef>
            </a:pPr>
            <a:r>
              <a:rPr lang="en-US" b="true" sz="27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SafeSight AI successf</a:t>
            </a:r>
            <a:r>
              <a:rPr lang="en-US" b="true" sz="27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ully delivers an automated, real-time computer vision solution for construction site safety compliance monitoring. </a:t>
            </a:r>
          </a:p>
          <a:p>
            <a:pPr algn="l">
              <a:lnSpc>
                <a:spcPts val="4157"/>
              </a:lnSpc>
              <a:spcBef>
                <a:spcPct val="0"/>
              </a:spcBef>
            </a:pPr>
          </a:p>
          <a:p>
            <a:pPr algn="l">
              <a:lnSpc>
                <a:spcPts val="4157"/>
              </a:lnSpc>
              <a:spcBef>
                <a:spcPct val="0"/>
              </a:spcBef>
            </a:pPr>
            <a:r>
              <a:rPr lang="en-US" b="true" sz="27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IMPACT ON SAFETY: </a:t>
            </a:r>
          </a:p>
          <a:p>
            <a:pPr algn="l">
              <a:lnSpc>
                <a:spcPts val="4157"/>
              </a:lnSpc>
              <a:spcBef>
                <a:spcPct val="0"/>
              </a:spcBef>
            </a:pPr>
          </a:p>
          <a:p>
            <a:pPr algn="l">
              <a:lnSpc>
                <a:spcPts val="4157"/>
              </a:lnSpc>
              <a:spcBef>
                <a:spcPct val="0"/>
              </a:spcBef>
            </a:pPr>
            <a:r>
              <a:rPr lang="en-US" b="true" sz="27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→ Eliminates manual monitoring gaps that cause preventable accidents </a:t>
            </a:r>
          </a:p>
          <a:p>
            <a:pPr algn="l">
              <a:lnSpc>
                <a:spcPts val="4157"/>
              </a:lnSpc>
              <a:spcBef>
                <a:spcPct val="0"/>
              </a:spcBef>
            </a:pPr>
            <a:r>
              <a:rPr lang="en-US" b="true" sz="27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→ Provides continuous, objective safety verification </a:t>
            </a:r>
          </a:p>
          <a:p>
            <a:pPr algn="l">
              <a:lnSpc>
                <a:spcPts val="4157"/>
              </a:lnSpc>
              <a:spcBef>
                <a:spcPct val="0"/>
              </a:spcBef>
            </a:pPr>
            <a:r>
              <a:rPr lang="en-US" b="true" sz="27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→ Enables immediate supervisory response to violations </a:t>
            </a:r>
          </a:p>
          <a:p>
            <a:pPr algn="l">
              <a:lnSpc>
                <a:spcPts val="4157"/>
              </a:lnSpc>
              <a:spcBef>
                <a:spcPct val="0"/>
              </a:spcBef>
            </a:pPr>
            <a:r>
              <a:rPr lang="en-US" b="true" sz="27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→ Creates auditable compliance records for regulatory adherence </a:t>
            </a:r>
          </a:p>
          <a:p>
            <a:pPr algn="l">
              <a:lnSpc>
                <a:spcPts val="4157"/>
              </a:lnSpc>
              <a:spcBef>
                <a:spcPct val="0"/>
              </a:spcBef>
            </a:pPr>
            <a:r>
              <a:rPr lang="en-US" b="true" sz="27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→ Reduces reliance on human judgment and fatigue</a:t>
            </a:r>
          </a:p>
          <a:p>
            <a:pPr algn="l">
              <a:lnSpc>
                <a:spcPts val="4157"/>
              </a:lnSpc>
              <a:spcBef>
                <a:spcPct val="0"/>
              </a:spcBef>
            </a:pPr>
          </a:p>
          <a:p>
            <a:pPr algn="l">
              <a:lnSpc>
                <a:spcPts val="4157"/>
              </a:lnSpc>
              <a:spcBef>
                <a:spcPct val="0"/>
              </a:spcBef>
            </a:pPr>
          </a:p>
        </p:txBody>
      </p:sp>
      <p:grpSp>
        <p:nvGrpSpPr>
          <p:cNvPr name="Group 7" id="7"/>
          <p:cNvGrpSpPr/>
          <p:nvPr/>
        </p:nvGrpSpPr>
        <p:grpSpPr>
          <a:xfrm rot="0">
            <a:off x="1203487" y="2198656"/>
            <a:ext cx="4134277" cy="852333"/>
            <a:chOff x="0" y="0"/>
            <a:chExt cx="1088863" cy="22448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88863" cy="224483"/>
            </a:xfrm>
            <a:custGeom>
              <a:avLst/>
              <a:gdLst/>
              <a:ahLst/>
              <a:cxnLst/>
              <a:rect r="r" b="b" t="t" l="l"/>
              <a:pathLst>
                <a:path h="224483" w="1088863">
                  <a:moveTo>
                    <a:pt x="0" y="0"/>
                  </a:moveTo>
                  <a:lnTo>
                    <a:pt x="1088863" y="0"/>
                  </a:lnTo>
                  <a:lnTo>
                    <a:pt x="1088863" y="224483"/>
                  </a:lnTo>
                  <a:lnTo>
                    <a:pt x="0" y="224483"/>
                  </a:lnTo>
                  <a:close/>
                </a:path>
              </a:pathLst>
            </a:custGeom>
            <a:solidFill>
              <a:srgbClr val="E9F2F7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088863" cy="2625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326008" y="2246281"/>
            <a:ext cx="3763863" cy="773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40"/>
              </a:lnSpc>
            </a:pPr>
            <a:r>
              <a:rPr lang="en-US" sz="5400" b="true">
                <a:solidFill>
                  <a:srgbClr val="28568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Conclusion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028700" y="279483"/>
            <a:ext cx="16321002" cy="1830248"/>
            <a:chOff x="0" y="0"/>
            <a:chExt cx="21761336" cy="244033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761323" cy="2440305"/>
            </a:xfrm>
            <a:custGeom>
              <a:avLst/>
              <a:gdLst/>
              <a:ahLst/>
              <a:cxnLst/>
              <a:rect r="r" b="b" t="t" l="l"/>
              <a:pathLst>
                <a:path h="2440305" w="21761323">
                  <a:moveTo>
                    <a:pt x="0" y="0"/>
                  </a:moveTo>
                  <a:lnTo>
                    <a:pt x="21761323" y="0"/>
                  </a:lnTo>
                  <a:lnTo>
                    <a:pt x="21761323" y="2440305"/>
                  </a:lnTo>
                  <a:lnTo>
                    <a:pt x="0" y="24403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6780" r="0" b="-16781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DAG_N0ZASpM</dc:identifier>
  <dcterms:modified xsi:type="dcterms:W3CDTF">2011-08-01T06:04:30Z</dcterms:modified>
  <cp:revision>1</cp:revision>
  <dc:title>TN-IMPACT_2026_PPT_TEMPLATE.pptx</dc:title>
</cp:coreProperties>
</file>